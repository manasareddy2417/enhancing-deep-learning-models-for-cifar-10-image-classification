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7" r:id="rId2"/>
    <p:sldId id="273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5" r:id="rId11"/>
    <p:sldId id="284" r:id="rId12"/>
    <p:sldId id="286" r:id="rId13"/>
    <p:sldId id="287" r:id="rId14"/>
    <p:sldId id="288" r:id="rId15"/>
    <p:sldId id="289" r:id="rId16"/>
    <p:sldId id="295" r:id="rId17"/>
    <p:sldId id="296" r:id="rId18"/>
    <p:sldId id="29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2"/>
  </p:normalViewPr>
  <p:slideViewPr>
    <p:cSldViewPr snapToGrid="0">
      <p:cViewPr varScale="1">
        <p:scale>
          <a:sx n="113" d="100"/>
          <a:sy n="113" d="100"/>
        </p:scale>
        <p:origin x="7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A1714EE-E10A-D8C3-F945-E4FFE6B0FC5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15EC77-4BB6-FFDD-4B70-F55E3B1918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CA94FF-7160-4611-9214-3DC89626D08B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F1B036-E721-8050-4A11-94EA00F7CCB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556BA0-EB4D-2787-94F6-D4DCDE3E74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CE4103-406D-4E8B-B89E-01466FD89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61410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C7B6A4-5A1B-4995-A010-43E64ADF7AF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40D2F-E0A3-46FD-B47A-35FCEB378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6034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4ddc2e7fd2_2_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4ddc2e7fd2_2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40D2F-E0A3-46FD-B47A-35FCEB378D3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284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40D2F-E0A3-46FD-B47A-35FCEB378D3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5412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62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D713B-2518-81CC-1BF4-2B99BE86D1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AAFDB-9991-7E56-344D-66323424BF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B35EF-44C3-920B-ADA6-5E38B8BBF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E2652-B15F-4EF6-B6BA-8501C3B41BEC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6989C-910B-D479-9ED5-D022224E6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CA16D-EB4F-5EF9-DC0F-E6CFD9655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297D4-FABA-4CFD-B413-54B34FCC0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127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B4A82-0AEF-F9B9-8601-0E0A2E85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E7372-7860-3CA6-BDA7-4C3351525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71A82-C88C-CAE5-03AF-71DBA9A4A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E2652-B15F-4EF6-B6BA-8501C3B41BEC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4CE0A-62B7-8348-9D53-744F39C2C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59192-49C9-E426-1092-023530DF3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297D4-FABA-4CFD-B413-54B34FCC0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726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0A422-ED5E-59A1-5E72-35F6B3FEC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66EE3E-E025-B633-E58A-6D597BA27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FCCD2-F6BC-1102-9E15-A8AECD137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E2652-B15F-4EF6-B6BA-8501C3B41BEC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4CFBC-D8F5-E56F-8D33-F61A32686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013BB-E766-6E0B-62F3-B53374F8A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297D4-FABA-4CFD-B413-54B34FCC0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760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40CE8-FDBB-AC0B-D286-7017A73AF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0D0BE-5494-5E54-0DCD-688B055A1F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49C9C3-2EE1-2943-97F7-96496FFD5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93BEC9-F39A-A41B-42E9-31236BD88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E2652-B15F-4EF6-B6BA-8501C3B41BEC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99C2E9-FD34-8713-FC97-34562B16F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24C0F2-DC77-BFBE-7B1D-189C8188D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297D4-FABA-4CFD-B413-54B34FCC0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319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63281-9591-5666-3A00-6FE644467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85700-B239-F3A5-4C75-524E7992D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BAB83-7932-B096-B4C5-97FD4CF384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6C9C5B-2B82-9EDE-8166-DB7FA766A6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92CF2D-F575-A040-B209-006633077E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ED5722-9B9F-D70E-7130-A87B2BDAC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E2652-B15F-4EF6-B6BA-8501C3B41BEC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8EA70F-5FF6-41BD-E2A8-5215AD474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E23357-187F-53B7-3307-13329C8A3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297D4-FABA-4CFD-B413-54B34FCC0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523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20C4D-7132-C3D4-DDAC-83A7A3A9E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330AB5-8E7B-A065-833E-6CB025CB3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E2652-B15F-4EF6-B6BA-8501C3B41BEC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CF30FA-8054-2FD4-69F2-4BACDA8B4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AEA7B1-3EDA-A9AA-88A3-A9F2B5F50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297D4-FABA-4CFD-B413-54B34FCC0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290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602E8A-BF00-527D-A186-E97A1A1C6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E2652-B15F-4EF6-B6BA-8501C3B41BEC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E73EEF-A2B0-9ACD-FB50-95AD50235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D9354-94EE-422A-1CA9-966963DC4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297D4-FABA-4CFD-B413-54B34FCC0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949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80DEC-1FB1-390B-C739-392BDB370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C3DFC-5660-28C3-1DDF-4D8758944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326439-5185-1A40-384A-5E1A2A29D5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74D97-054A-0D12-8F0B-59B7F32D3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E2652-B15F-4EF6-B6BA-8501C3B41BEC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D35513-AF95-6550-5CF7-523CEEE9A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DD668C-CEEF-255C-EDF0-038E09CEB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297D4-FABA-4CFD-B413-54B34FCC0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077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29BCE-C2F3-2522-5C5A-AF4701D68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FB8F40-3800-8089-10DC-E0E32EE1F6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632A68-CDE6-B185-AAE6-FC3FA130D7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1B405-3462-0B80-598A-6E61F00E4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E2652-B15F-4EF6-B6BA-8501C3B41BEC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9CA783-7388-E2A5-F4CC-69250CBCE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0032B3-F7EB-44B6-6ED5-D18A17A87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297D4-FABA-4CFD-B413-54B34FCC0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995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BC4E4-2A07-1C9B-9233-5E1FC06D1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BD8569-7F88-2E36-B968-7F935C0D9D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E534A-2F7F-75DD-CC80-8273DFBA5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E2652-B15F-4EF6-B6BA-8501C3B41BEC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4B184-94F4-63A6-CCCB-595BA4786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EC6C8-201F-E160-13DA-87FAF61A4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297D4-FABA-4CFD-B413-54B34FCC0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998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178065-4ADF-FC75-1840-FF95D4BFC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D0A63A-0F1F-2818-74C1-37B8857B10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B463F-0621-90E8-0638-1FF72187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E2652-B15F-4EF6-B6BA-8501C3B41BEC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18EA2-FEC4-8D07-9DF6-444C0233A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49457-636F-983C-CB0B-221CD5E68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297D4-FABA-4CFD-B413-54B34FCC0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4293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41281" y="5764882"/>
            <a:ext cx="1623487" cy="7493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46273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22EA79-5444-8379-C016-CF6FC6FE8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2E9F39-4CB0-042C-5A39-190086AF5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51683-66CF-94C2-AD0F-65D72A8288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2E2652-B15F-4EF6-B6BA-8501C3B41BEC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B1258-E153-7C32-9AF6-E6118C87CE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92077-2150-8E1C-CCE3-2541CC2BF0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2297D4-FABA-4CFD-B413-54B34FCC0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778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hyperlink" Target="http://www.cs.toronto.edu/~kriz/cifar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toronto.edu/~kriz/cifar.html" TargetMode="External"/><Relationship Id="rId7" Type="http://schemas.openxmlformats.org/officeDocument/2006/relationships/hyperlink" Target="https://medium.com/@utkrisht14/cosine-learning-rate-schedulers-in-pytorch-486d8717d541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ocs.pytorch.org/docs/stable/" TargetMode="External"/><Relationship Id="rId5" Type="http://schemas.openxmlformats.org/officeDocument/2006/relationships/hyperlink" Target="https://www.analyticsvidhya.com/blog/2020/02/learn-image-classification-cnn-convolutional-neural-networks-3-datasets/" TargetMode="External"/><Relationship Id="rId4" Type="http://schemas.openxmlformats.org/officeDocument/2006/relationships/hyperlink" Target="https://raw.githubusercontent.com/EdwardRaff/Inside-Deep-Learning/main/idlmam.py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6" descr="Picture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83029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6"/>
          <p:cNvSpPr txBox="1">
            <a:spLocks noGrp="1"/>
          </p:cNvSpPr>
          <p:nvPr>
            <p:ph type="ctrTitle"/>
          </p:nvPr>
        </p:nvSpPr>
        <p:spPr>
          <a:xfrm>
            <a:off x="3124200" y="1635760"/>
            <a:ext cx="7391400" cy="240284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4500"/>
            </a:pPr>
            <a:r>
              <a:rPr lang="en-GB"/>
              <a:t> </a:t>
            </a:r>
            <a:endParaRPr b="1">
              <a:solidFill>
                <a:srgbClr val="008000"/>
              </a:solidFill>
            </a:endParaRPr>
          </a:p>
        </p:txBody>
      </p:sp>
      <p:sp>
        <p:nvSpPr>
          <p:cNvPr id="134" name="Google Shape;134;p26"/>
          <p:cNvSpPr txBox="1"/>
          <p:nvPr/>
        </p:nvSpPr>
        <p:spPr>
          <a:xfrm>
            <a:off x="217078" y="311695"/>
            <a:ext cx="7659437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r>
              <a:rPr lang="en-GB"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ADTA 5550-001: </a:t>
            </a:r>
            <a:r>
              <a:rPr lang="en-US"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Deep Learning with Big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50048-0832-FFFD-BAAF-10B8671307BD}"/>
              </a:ext>
            </a:extLst>
          </p:cNvPr>
          <p:cNvSpPr txBox="1"/>
          <p:nvPr/>
        </p:nvSpPr>
        <p:spPr>
          <a:xfrm>
            <a:off x="3124199" y="2514014"/>
            <a:ext cx="73913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		              </a:t>
            </a:r>
            <a:r>
              <a:rPr lang="en-US" sz="2800" b="1" u="sng" dirty="0"/>
              <a:t>PROJECT TITLE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386ACA6-4068-BD0D-878C-3F2134FD2B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8562" y="3602038"/>
            <a:ext cx="7659437" cy="1655762"/>
          </a:xfrm>
        </p:spPr>
        <p:txBody>
          <a:bodyPr/>
          <a:lstStyle/>
          <a:p>
            <a:r>
              <a:rPr lang="en-US" sz="3600" b="1" dirty="0">
                <a:solidFill>
                  <a:srgbClr val="FF0000"/>
                </a:solidFill>
              </a:rPr>
              <a:t>Enhancing Deep Learning Models for Image Recognition in CIFAR-10 Dataset</a:t>
            </a: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068"/>
    </mc:Choice>
    <mc:Fallback xmlns="">
      <p:transition spd="slow" advTm="2306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50;p28">
            <a:extLst>
              <a:ext uri="{FF2B5EF4-FFF2-40B4-BE49-F238E27FC236}">
                <a16:creationId xmlns:a16="http://schemas.microsoft.com/office/drawing/2014/main" id="{54DDB92B-0055-DEAE-7348-EF4F0247FAC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466" y="60768"/>
            <a:ext cx="1168401" cy="102771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62;p29">
            <a:extLst>
              <a:ext uri="{FF2B5EF4-FFF2-40B4-BE49-F238E27FC236}">
                <a16:creationId xmlns:a16="http://schemas.microsoft.com/office/drawing/2014/main" id="{805891BA-71D4-C7D8-428D-E3FE4DA08900}"/>
              </a:ext>
            </a:extLst>
          </p:cNvPr>
          <p:cNvSpPr txBox="1">
            <a:spLocks/>
          </p:cNvSpPr>
          <p:nvPr/>
        </p:nvSpPr>
        <p:spPr>
          <a:xfrm>
            <a:off x="1162553" y="375030"/>
            <a:ext cx="8635263" cy="699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189" lvl="1">
              <a:lnSpc>
                <a:spcPct val="90000"/>
              </a:lnSpc>
            </a:pPr>
            <a:r>
              <a:rPr lang="en-GB" sz="3733" b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lang="en-GB" sz="3733">
              <a:solidFill>
                <a:schemeClr val="tx1"/>
              </a:solidFill>
            </a:endParaRPr>
          </a:p>
        </p:txBody>
      </p:sp>
      <p:sp>
        <p:nvSpPr>
          <p:cNvPr id="5" name="Google Shape;162;p29">
            <a:extLst>
              <a:ext uri="{FF2B5EF4-FFF2-40B4-BE49-F238E27FC236}">
                <a16:creationId xmlns:a16="http://schemas.microsoft.com/office/drawing/2014/main" id="{A993762A-7F88-34F6-105D-24FE4FE7C68B}"/>
              </a:ext>
            </a:extLst>
          </p:cNvPr>
          <p:cNvSpPr txBox="1">
            <a:spLocks/>
          </p:cNvSpPr>
          <p:nvPr/>
        </p:nvSpPr>
        <p:spPr>
          <a:xfrm>
            <a:off x="323110" y="802000"/>
            <a:ext cx="11545780" cy="5031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189" lvl="1">
              <a:lnSpc>
                <a:spcPct val="90000"/>
              </a:lnSpc>
            </a:pPr>
            <a:endParaRPr lang="en-GB" sz="1867"/>
          </a:p>
        </p:txBody>
      </p:sp>
      <p:sp>
        <p:nvSpPr>
          <p:cNvPr id="6" name="Google Shape;132;p36">
            <a:extLst>
              <a:ext uri="{FF2B5EF4-FFF2-40B4-BE49-F238E27FC236}">
                <a16:creationId xmlns:a16="http://schemas.microsoft.com/office/drawing/2014/main" id="{B2099055-7FD1-F9C0-B7EC-56F84D5DEDD8}"/>
              </a:ext>
            </a:extLst>
          </p:cNvPr>
          <p:cNvSpPr/>
          <p:nvPr/>
        </p:nvSpPr>
        <p:spPr>
          <a:xfrm>
            <a:off x="483073" y="1304683"/>
            <a:ext cx="3260625" cy="539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31147"/>
              </a:lnSpc>
              <a:buClr>
                <a:srgbClr val="532418"/>
              </a:buClr>
              <a:buSzPts val="1900"/>
            </a:pPr>
            <a:r>
              <a:rPr lang="en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Objective</a:t>
            </a:r>
            <a:endParaRPr sz="24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Google Shape;133;p36">
            <a:extLst>
              <a:ext uri="{FF2B5EF4-FFF2-40B4-BE49-F238E27FC236}">
                <a16:creationId xmlns:a16="http://schemas.microsoft.com/office/drawing/2014/main" id="{1617959C-B6AA-78B3-330B-F5C6A4BDBA0B}"/>
              </a:ext>
            </a:extLst>
          </p:cNvPr>
          <p:cNvSpPr/>
          <p:nvPr/>
        </p:nvSpPr>
        <p:spPr>
          <a:xfrm>
            <a:off x="483073" y="1961550"/>
            <a:ext cx="10578937" cy="9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31428"/>
              </a:lnSpc>
              <a:buClr>
                <a:srgbClr val="67534F"/>
              </a:buClr>
              <a:buSzPts val="1100"/>
            </a:pPr>
            <a:r>
              <a:rPr lang="en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Develop and enhance deep learning models to accurately classify images from the CIFAR-10 dataset, progressing from vanilla architectures to sophisticated CNNs with modern optimisation techniques.</a:t>
            </a:r>
            <a:endParaRPr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8" name="Google Shape;134;p36">
            <a:extLst>
              <a:ext uri="{FF2B5EF4-FFF2-40B4-BE49-F238E27FC236}">
                <a16:creationId xmlns:a16="http://schemas.microsoft.com/office/drawing/2014/main" id="{DC507E35-F229-81CE-1769-A48550B8E8D0}"/>
              </a:ext>
            </a:extLst>
          </p:cNvPr>
          <p:cNvSpPr/>
          <p:nvPr/>
        </p:nvSpPr>
        <p:spPr>
          <a:xfrm>
            <a:off x="483072" y="3047225"/>
            <a:ext cx="3898117" cy="423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31147"/>
              </a:lnSpc>
              <a:buClr>
                <a:srgbClr val="532418"/>
              </a:buClr>
              <a:buSzPts val="1900"/>
            </a:pPr>
            <a:r>
              <a:rPr lang="en" sz="2133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Key Research Questions</a:t>
            </a:r>
            <a:endParaRPr sz="2133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" name="Google Shape;135;p36">
            <a:extLst>
              <a:ext uri="{FF2B5EF4-FFF2-40B4-BE49-F238E27FC236}">
                <a16:creationId xmlns:a16="http://schemas.microsoft.com/office/drawing/2014/main" id="{F7067C74-3B4B-BCA3-131A-9E0F5D2A34CB}"/>
              </a:ext>
            </a:extLst>
          </p:cNvPr>
          <p:cNvSpPr/>
          <p:nvPr/>
        </p:nvSpPr>
        <p:spPr>
          <a:xfrm>
            <a:off x="483072" y="3633764"/>
            <a:ext cx="10747445" cy="2940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7859" indent="-296326">
              <a:lnSpc>
                <a:spcPct val="131428"/>
              </a:lnSpc>
              <a:buClr>
                <a:srgbClr val="67534F"/>
              </a:buClr>
              <a:buSzPts val="1100"/>
              <a:buFont typeface="Montserrat"/>
              <a:buChar char="•"/>
            </a:pPr>
            <a:r>
              <a:rPr lang="en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How do different neural network architectures perform on image classification tasks?</a:t>
            </a:r>
          </a:p>
          <a:p>
            <a:pPr marL="287859" indent="-296326">
              <a:lnSpc>
                <a:spcPct val="131428"/>
              </a:lnSpc>
              <a:buClr>
                <a:srgbClr val="67534F"/>
              </a:buClr>
              <a:buSzPts val="1100"/>
              <a:buFont typeface="Montserrat"/>
              <a:buChar char="•"/>
            </a:pPr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What impact do modern techniques such as data augmentation and advanced optimizers have on model performance?</a:t>
            </a:r>
            <a:endParaRPr lang="en-US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287859" indent="-296326">
              <a:lnSpc>
                <a:spcPct val="131428"/>
              </a:lnSpc>
              <a:buClr>
                <a:srgbClr val="67534F"/>
              </a:buClr>
              <a:buSzPts val="1100"/>
              <a:buFont typeface="Montserrat"/>
              <a:buChar char="•"/>
            </a:pPr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How can we optimize training procedures for better accuracy and generalization?</a:t>
            </a:r>
            <a:endParaRPr lang="en-US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287859" indent="-296326">
              <a:lnSpc>
                <a:spcPct val="131428"/>
              </a:lnSpc>
              <a:buClr>
                <a:srgbClr val="67534F"/>
              </a:buClr>
              <a:buSzPts val="1100"/>
              <a:buFont typeface="Montserrat"/>
              <a:buChar char="•"/>
            </a:pPr>
            <a:endParaRPr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4943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827"/>
    </mc:Choice>
    <mc:Fallback xmlns="">
      <p:transition spd="slow" advTm="42827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50;p28">
            <a:extLst>
              <a:ext uri="{FF2B5EF4-FFF2-40B4-BE49-F238E27FC236}">
                <a16:creationId xmlns:a16="http://schemas.microsoft.com/office/drawing/2014/main" id="{54DDB92B-0055-DEAE-7348-EF4F0247FAC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466" y="60768"/>
            <a:ext cx="1168401" cy="102771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62;p29">
            <a:extLst>
              <a:ext uri="{FF2B5EF4-FFF2-40B4-BE49-F238E27FC236}">
                <a16:creationId xmlns:a16="http://schemas.microsoft.com/office/drawing/2014/main" id="{805891BA-71D4-C7D8-428D-E3FE4DA08900}"/>
              </a:ext>
            </a:extLst>
          </p:cNvPr>
          <p:cNvSpPr txBox="1">
            <a:spLocks/>
          </p:cNvSpPr>
          <p:nvPr/>
        </p:nvSpPr>
        <p:spPr>
          <a:xfrm>
            <a:off x="1454909" y="270056"/>
            <a:ext cx="8635263" cy="699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129166"/>
              </a:lnSpc>
              <a:buClr>
                <a:srgbClr val="532418"/>
              </a:buClr>
              <a:buSzPts val="3000"/>
            </a:pPr>
            <a:r>
              <a:rPr lang="en-US" sz="3200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CIFAR-10 Dataset Overview</a:t>
            </a:r>
            <a:endParaRPr lang="en-US" sz="3200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Google Shape;162;p29">
            <a:extLst>
              <a:ext uri="{FF2B5EF4-FFF2-40B4-BE49-F238E27FC236}">
                <a16:creationId xmlns:a16="http://schemas.microsoft.com/office/drawing/2014/main" id="{A993762A-7F88-34F6-105D-24FE4FE7C68B}"/>
              </a:ext>
            </a:extLst>
          </p:cNvPr>
          <p:cNvSpPr txBox="1">
            <a:spLocks/>
          </p:cNvSpPr>
          <p:nvPr/>
        </p:nvSpPr>
        <p:spPr>
          <a:xfrm>
            <a:off x="259643" y="1237213"/>
            <a:ext cx="11545780" cy="4543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1">
              <a:lnSpc>
                <a:spcPct val="130302"/>
              </a:lnSpc>
              <a:buClr>
                <a:srgbClr val="67534F"/>
              </a:buClr>
              <a:buSzPts val="1000"/>
            </a:pPr>
            <a:endParaRPr lang="en-US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Google Shape;132;p36">
            <a:extLst>
              <a:ext uri="{FF2B5EF4-FFF2-40B4-BE49-F238E27FC236}">
                <a16:creationId xmlns:a16="http://schemas.microsoft.com/office/drawing/2014/main" id="{B2099055-7FD1-F9C0-B7EC-56F84D5DEDD8}"/>
              </a:ext>
            </a:extLst>
          </p:cNvPr>
          <p:cNvSpPr/>
          <p:nvPr/>
        </p:nvSpPr>
        <p:spPr>
          <a:xfrm>
            <a:off x="483073" y="1304683"/>
            <a:ext cx="3260625" cy="539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31147"/>
              </a:lnSpc>
              <a:buClr>
                <a:srgbClr val="532418"/>
              </a:buClr>
              <a:buSzPts val="1900"/>
            </a:pPr>
            <a:endParaRPr sz="25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Google Shape;133;p36">
            <a:extLst>
              <a:ext uri="{FF2B5EF4-FFF2-40B4-BE49-F238E27FC236}">
                <a16:creationId xmlns:a16="http://schemas.microsoft.com/office/drawing/2014/main" id="{1617959C-B6AA-78B3-330B-F5C6A4BDBA0B}"/>
              </a:ext>
            </a:extLst>
          </p:cNvPr>
          <p:cNvSpPr/>
          <p:nvPr/>
        </p:nvSpPr>
        <p:spPr>
          <a:xfrm>
            <a:off x="259643" y="1689554"/>
            <a:ext cx="9118127" cy="4363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80990" indent="-380990">
              <a:lnSpc>
                <a:spcPct val="130302"/>
              </a:lnSpc>
              <a:buClr>
                <a:srgbClr val="67534F"/>
              </a:buClr>
              <a:buSzPts val="1000"/>
              <a:buFont typeface="Arial" panose="020B0604020202020204" pitchFamily="34" charset="0"/>
              <a:buChar char="•"/>
            </a:pPr>
            <a:r>
              <a:rPr lang="en-US" sz="2133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Data Set: CIFAR-10</a:t>
            </a:r>
          </a:p>
          <a:p>
            <a:pPr marL="380990" indent="-380990">
              <a:lnSpc>
                <a:spcPct val="130302"/>
              </a:lnSpc>
              <a:buClr>
                <a:srgbClr val="67534F"/>
              </a:buClr>
              <a:buSzPts val="1000"/>
              <a:buFont typeface="Arial" panose="020B0604020202020204" pitchFamily="34" charset="0"/>
              <a:buChar char="•"/>
            </a:pPr>
            <a:r>
              <a:rPr lang="en-US" sz="2133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Source: </a:t>
            </a:r>
            <a:r>
              <a:rPr lang="en-US" sz="2133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  <a:hlinkClick r:id="rId4"/>
              </a:rPr>
              <a:t>www.cs.toronto.edu/~kriz/cifar.html</a:t>
            </a: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L="380990" indent="-380990">
              <a:lnSpc>
                <a:spcPct val="130302"/>
              </a:lnSpc>
              <a:buClr>
                <a:srgbClr val="67534F"/>
              </a:buClr>
              <a:buSzPts val="1000"/>
              <a:buFont typeface="Arial" panose="020B0604020202020204" pitchFamily="34" charset="0"/>
              <a:buChar char="•"/>
            </a:pPr>
            <a:r>
              <a:rPr lang="en-US" sz="2133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60,000 color images</a:t>
            </a:r>
            <a:r>
              <a:rPr lang="en-US" sz="2133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at 32×32pixel resolution</a:t>
            </a:r>
          </a:p>
          <a:p>
            <a:pPr>
              <a:lnSpc>
                <a:spcPct val="130302"/>
              </a:lnSpc>
              <a:buClr>
                <a:srgbClr val="67534F"/>
              </a:buClr>
              <a:buSzPts val="1000"/>
            </a:pPr>
            <a:r>
              <a:rPr lang="en-US" sz="2133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	- 50,000 training images </a:t>
            </a:r>
          </a:p>
          <a:p>
            <a:pPr>
              <a:lnSpc>
                <a:spcPct val="130302"/>
              </a:lnSpc>
              <a:buClr>
                <a:srgbClr val="67534F"/>
              </a:buClr>
              <a:buSzPts val="1000"/>
            </a:pPr>
            <a:r>
              <a:rPr lang="en-US" sz="2133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	- 10,000 test images</a:t>
            </a:r>
          </a:p>
          <a:p>
            <a:pPr marL="380990" indent="-380990">
              <a:lnSpc>
                <a:spcPct val="130302"/>
              </a:lnSpc>
              <a:buClr>
                <a:srgbClr val="67534F"/>
              </a:buClr>
              <a:buSzPts val="1000"/>
              <a:buFont typeface="Arial" panose="020B0604020202020204" pitchFamily="34" charset="0"/>
              <a:buChar char="•"/>
            </a:pPr>
            <a:r>
              <a:rPr lang="en-US" sz="2133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10 diverse categories</a:t>
            </a:r>
          </a:p>
          <a:p>
            <a:pPr lvl="5">
              <a:lnSpc>
                <a:spcPct val="130302"/>
              </a:lnSpc>
              <a:buClr>
                <a:srgbClr val="67534F"/>
              </a:buClr>
              <a:buSzPts val="1000"/>
            </a:pPr>
            <a:r>
              <a:rPr lang="en-US" sz="2133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	- Dog, Frog, Horse, Ship, Truck</a:t>
            </a:r>
          </a:p>
          <a:p>
            <a:pPr lvl="5">
              <a:lnSpc>
                <a:spcPct val="130302"/>
              </a:lnSpc>
              <a:buClr>
                <a:srgbClr val="67534F"/>
              </a:buClr>
              <a:buSzPts val="1000"/>
            </a:pPr>
            <a:r>
              <a:rPr lang="en-US" sz="2133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	- Plane, Car, Bird, Cat, Deer</a:t>
            </a: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>
              <a:lnSpc>
                <a:spcPct val="130302"/>
              </a:lnSpc>
              <a:buClr>
                <a:srgbClr val="67534F"/>
              </a:buClr>
              <a:buSzPts val="1000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80990" indent="-380990">
              <a:lnSpc>
                <a:spcPct val="130302"/>
              </a:lnSpc>
              <a:buClr>
                <a:srgbClr val="67534F"/>
              </a:buClr>
              <a:buSzPts val="1000"/>
              <a:buFont typeface="Arial" panose="020B0604020202020204" pitchFamily="34" charset="0"/>
              <a:buChar char="•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80990" indent="-380990">
              <a:lnSpc>
                <a:spcPct val="130302"/>
              </a:lnSpc>
              <a:buClr>
                <a:srgbClr val="67534F"/>
              </a:buClr>
              <a:buSzPts val="1000"/>
              <a:buFont typeface="Arial" panose="020B0604020202020204" pitchFamily="34" charset="0"/>
              <a:buChar char="•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L="380990" indent="-380990">
              <a:lnSpc>
                <a:spcPct val="130302"/>
              </a:lnSpc>
              <a:buClr>
                <a:srgbClr val="67534F"/>
              </a:buClr>
              <a:buSzPts val="1000"/>
              <a:buFont typeface="Arial" panose="020B0604020202020204" pitchFamily="34" charset="0"/>
              <a:buChar char="•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" name="Google Shape;135;p36">
            <a:extLst>
              <a:ext uri="{FF2B5EF4-FFF2-40B4-BE49-F238E27FC236}">
                <a16:creationId xmlns:a16="http://schemas.microsoft.com/office/drawing/2014/main" id="{F7067C74-3B4B-BCA3-131A-9E0F5D2A34CB}"/>
              </a:ext>
            </a:extLst>
          </p:cNvPr>
          <p:cNvSpPr/>
          <p:nvPr/>
        </p:nvSpPr>
        <p:spPr>
          <a:xfrm>
            <a:off x="483072" y="3945023"/>
            <a:ext cx="10747445" cy="20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30302"/>
              </a:lnSpc>
              <a:buClr>
                <a:srgbClr val="67534F"/>
              </a:buClr>
              <a:buSzPts val="1000"/>
            </a:pPr>
            <a:endParaRPr lang="en-US" sz="1867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>
              <a:lnSpc>
                <a:spcPct val="130302"/>
              </a:lnSpc>
              <a:buClr>
                <a:srgbClr val="67534F"/>
              </a:buClr>
              <a:buSzPts val="1000"/>
            </a:pPr>
            <a:endParaRPr lang="en-US" sz="1867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C8E83EF-1430-8325-7D07-4BBD5F28A2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110" y="2129661"/>
            <a:ext cx="5682694" cy="28877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D3F96B-BA5E-77B9-5B91-572E62C38F69}"/>
              </a:ext>
            </a:extLst>
          </p:cNvPr>
          <p:cNvSpPr txBox="1"/>
          <p:nvPr/>
        </p:nvSpPr>
        <p:spPr>
          <a:xfrm>
            <a:off x="7430661" y="5134393"/>
            <a:ext cx="43570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Figure: Sample images from Training Dataset</a:t>
            </a:r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611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547"/>
    </mc:Choice>
    <mc:Fallback xmlns="">
      <p:transition spd="slow" advTm="2854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50;p28">
            <a:extLst>
              <a:ext uri="{FF2B5EF4-FFF2-40B4-BE49-F238E27FC236}">
                <a16:creationId xmlns:a16="http://schemas.microsoft.com/office/drawing/2014/main" id="{54DDB92B-0055-DEAE-7348-EF4F0247FAC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466" y="60768"/>
            <a:ext cx="1168401" cy="102771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62;p29">
            <a:extLst>
              <a:ext uri="{FF2B5EF4-FFF2-40B4-BE49-F238E27FC236}">
                <a16:creationId xmlns:a16="http://schemas.microsoft.com/office/drawing/2014/main" id="{805891BA-71D4-C7D8-428D-E3FE4DA08900}"/>
              </a:ext>
            </a:extLst>
          </p:cNvPr>
          <p:cNvSpPr txBox="1">
            <a:spLocks/>
          </p:cNvSpPr>
          <p:nvPr/>
        </p:nvSpPr>
        <p:spPr>
          <a:xfrm>
            <a:off x="881688" y="211542"/>
            <a:ext cx="8635263" cy="699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1">
              <a:lnSpc>
                <a:spcPct val="130302"/>
              </a:lnSpc>
              <a:buClr>
                <a:srgbClr val="67534F"/>
              </a:buClr>
              <a:buSzPts val="1000"/>
            </a:pPr>
            <a:r>
              <a:rPr lang="en-US" sz="3200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Dataset Properties</a:t>
            </a:r>
          </a:p>
        </p:txBody>
      </p:sp>
      <p:sp>
        <p:nvSpPr>
          <p:cNvPr id="5" name="Google Shape;162;p29">
            <a:extLst>
              <a:ext uri="{FF2B5EF4-FFF2-40B4-BE49-F238E27FC236}">
                <a16:creationId xmlns:a16="http://schemas.microsoft.com/office/drawing/2014/main" id="{A993762A-7F88-34F6-105D-24FE4FE7C68B}"/>
              </a:ext>
            </a:extLst>
          </p:cNvPr>
          <p:cNvSpPr txBox="1">
            <a:spLocks/>
          </p:cNvSpPr>
          <p:nvPr/>
        </p:nvSpPr>
        <p:spPr>
          <a:xfrm>
            <a:off x="259643" y="1304683"/>
            <a:ext cx="11545780" cy="4543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189" lvl="1">
              <a:lnSpc>
                <a:spcPct val="90000"/>
              </a:lnSpc>
            </a:pPr>
            <a:endParaRPr lang="en-GB" sz="1867"/>
          </a:p>
          <a:p>
            <a:pPr marL="457189" lvl="1">
              <a:lnSpc>
                <a:spcPct val="90000"/>
              </a:lnSpc>
            </a:pPr>
            <a:endParaRPr lang="en-GB" sz="1867"/>
          </a:p>
          <a:p>
            <a:pPr marL="838179" lvl="1" indent="-38099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GB" sz="1867"/>
          </a:p>
        </p:txBody>
      </p:sp>
      <p:sp>
        <p:nvSpPr>
          <p:cNvPr id="6" name="Google Shape;132;p36">
            <a:extLst>
              <a:ext uri="{FF2B5EF4-FFF2-40B4-BE49-F238E27FC236}">
                <a16:creationId xmlns:a16="http://schemas.microsoft.com/office/drawing/2014/main" id="{B2099055-7FD1-F9C0-B7EC-56F84D5DEDD8}"/>
              </a:ext>
            </a:extLst>
          </p:cNvPr>
          <p:cNvSpPr/>
          <p:nvPr/>
        </p:nvSpPr>
        <p:spPr>
          <a:xfrm>
            <a:off x="483073" y="1304683"/>
            <a:ext cx="3260625" cy="539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31147"/>
              </a:lnSpc>
              <a:buClr>
                <a:srgbClr val="532418"/>
              </a:buClr>
              <a:buSzPts val="1900"/>
            </a:pPr>
            <a:endParaRPr sz="25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Google Shape;133;p36">
            <a:extLst>
              <a:ext uri="{FF2B5EF4-FFF2-40B4-BE49-F238E27FC236}">
                <a16:creationId xmlns:a16="http://schemas.microsoft.com/office/drawing/2014/main" id="{1617959C-B6AA-78B3-330B-F5C6A4BDBA0B}"/>
              </a:ext>
            </a:extLst>
          </p:cNvPr>
          <p:cNvSpPr/>
          <p:nvPr/>
        </p:nvSpPr>
        <p:spPr>
          <a:xfrm>
            <a:off x="483073" y="1961550"/>
            <a:ext cx="10578937" cy="4363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80990" indent="-380990">
              <a:lnSpc>
                <a:spcPct val="130302"/>
              </a:lnSpc>
              <a:buClr>
                <a:srgbClr val="67534F"/>
              </a:buClr>
              <a:buSzPts val="1000"/>
              <a:buFont typeface="Arial" panose="020B0604020202020204" pitchFamily="34" charset="0"/>
              <a:buChar char="•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" name="Google Shape;135;p36">
            <a:extLst>
              <a:ext uri="{FF2B5EF4-FFF2-40B4-BE49-F238E27FC236}">
                <a16:creationId xmlns:a16="http://schemas.microsoft.com/office/drawing/2014/main" id="{F7067C74-3B4B-BCA3-131A-9E0F5D2A34CB}"/>
              </a:ext>
            </a:extLst>
          </p:cNvPr>
          <p:cNvSpPr/>
          <p:nvPr/>
        </p:nvSpPr>
        <p:spPr>
          <a:xfrm>
            <a:off x="483072" y="3945023"/>
            <a:ext cx="10747445" cy="20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30302"/>
              </a:lnSpc>
              <a:buClr>
                <a:srgbClr val="67534F"/>
              </a:buClr>
              <a:buSzPts val="1000"/>
            </a:pPr>
            <a:endParaRPr lang="en-US" sz="1867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>
              <a:lnSpc>
                <a:spcPct val="130302"/>
              </a:lnSpc>
              <a:buClr>
                <a:srgbClr val="67534F"/>
              </a:buClr>
              <a:buSzPts val="1000"/>
            </a:pPr>
            <a:endParaRPr lang="en-US" sz="1867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19E5F1-8953-E50E-8E51-36C8C12493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082" y="60768"/>
            <a:ext cx="5465391" cy="56585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36B4430-F685-90B6-E8F6-58944E221F4C}"/>
              </a:ext>
            </a:extLst>
          </p:cNvPr>
          <p:cNvSpPr txBox="1"/>
          <p:nvPr/>
        </p:nvSpPr>
        <p:spPr>
          <a:xfrm>
            <a:off x="483072" y="1745348"/>
            <a:ext cx="5708332" cy="2191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lvl="1" indent="-380990">
              <a:lnSpc>
                <a:spcPct val="130302"/>
              </a:lnSpc>
              <a:buClr>
                <a:srgbClr val="67534F"/>
              </a:buClr>
              <a:buSzPts val="1000"/>
              <a:buFont typeface="Arial" panose="020B0604020202020204" pitchFamily="34" charset="0"/>
              <a:buChar char="•"/>
            </a:pPr>
            <a:r>
              <a:rPr lang="en" sz="2133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Uniform distribution across all ten categories</a:t>
            </a:r>
            <a:endParaRPr lang="en-US" sz="2133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arcellus"/>
            </a:endParaRPr>
          </a:p>
          <a:p>
            <a:pPr marL="380990" lvl="1" indent="-380990">
              <a:lnSpc>
                <a:spcPct val="130302"/>
              </a:lnSpc>
              <a:buClr>
                <a:srgbClr val="67534F"/>
              </a:buClr>
              <a:buSzPts val="1000"/>
              <a:buFont typeface="Arial" panose="020B0604020202020204" pitchFamily="34" charset="0"/>
              <a:buChar char="•"/>
            </a:pPr>
            <a:r>
              <a:rPr lang="en-US" sz="2133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 </a:t>
            </a:r>
            <a:r>
              <a:rPr lang="en-US" sz="2133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6,000 images per class</a:t>
            </a:r>
          </a:p>
          <a:p>
            <a:pPr lvl="2">
              <a:lnSpc>
                <a:spcPct val="130302"/>
              </a:lnSpc>
              <a:buClr>
                <a:srgbClr val="67534F"/>
              </a:buClr>
              <a:buSzPts val="1000"/>
            </a:pPr>
            <a:r>
              <a:rPr lang="en-US" sz="2133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	- </a:t>
            </a:r>
            <a:r>
              <a:rPr lang="en-US" sz="2133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5,000 training images</a:t>
            </a:r>
            <a:r>
              <a:rPr lang="en-US" sz="2133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per class</a:t>
            </a: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2">
              <a:lnSpc>
                <a:spcPct val="130302"/>
              </a:lnSpc>
              <a:buClr>
                <a:srgbClr val="67534F"/>
              </a:buClr>
              <a:buSzPts val="1000"/>
            </a:pPr>
            <a:r>
              <a:rPr lang="en-US" sz="2133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	- 1,000 test images</a:t>
            </a:r>
            <a:r>
              <a:rPr lang="en-US" sz="2133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per class</a:t>
            </a:r>
          </a:p>
          <a:p>
            <a:pPr marL="380990" lvl="1" indent="-380990">
              <a:lnSpc>
                <a:spcPct val="130302"/>
              </a:lnSpc>
              <a:buClr>
                <a:srgbClr val="67534F"/>
              </a:buClr>
              <a:buSzPts val="1000"/>
              <a:buFont typeface="Arial" panose="020B0604020202020204" pitchFamily="34" charset="0"/>
              <a:buChar char="•"/>
            </a:pPr>
            <a:r>
              <a:rPr lang="en-US" sz="2133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3 color channels (RGB)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10BAB5-D4DF-3266-8058-59F485C1CAEC}"/>
              </a:ext>
            </a:extLst>
          </p:cNvPr>
          <p:cNvSpPr txBox="1"/>
          <p:nvPr/>
        </p:nvSpPr>
        <p:spPr>
          <a:xfrm>
            <a:off x="7132232" y="5612373"/>
            <a:ext cx="31395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Figure: Image Class Distribution</a:t>
            </a:r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782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733"/>
    </mc:Choice>
    <mc:Fallback xmlns="">
      <p:transition spd="slow" advTm="2573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50;p28">
            <a:extLst>
              <a:ext uri="{FF2B5EF4-FFF2-40B4-BE49-F238E27FC236}">
                <a16:creationId xmlns:a16="http://schemas.microsoft.com/office/drawing/2014/main" id="{54DDB92B-0055-DEAE-7348-EF4F0247FAC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466" y="60768"/>
            <a:ext cx="1168401" cy="102771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62;p29">
            <a:extLst>
              <a:ext uri="{FF2B5EF4-FFF2-40B4-BE49-F238E27FC236}">
                <a16:creationId xmlns:a16="http://schemas.microsoft.com/office/drawing/2014/main" id="{805891BA-71D4-C7D8-428D-E3FE4DA08900}"/>
              </a:ext>
            </a:extLst>
          </p:cNvPr>
          <p:cNvSpPr txBox="1">
            <a:spLocks/>
          </p:cNvSpPr>
          <p:nvPr/>
        </p:nvSpPr>
        <p:spPr>
          <a:xfrm>
            <a:off x="1331550" y="300339"/>
            <a:ext cx="8635263" cy="699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131147"/>
              </a:lnSpc>
              <a:buClr>
                <a:srgbClr val="532418"/>
              </a:buClr>
              <a:buSzPts val="1900"/>
            </a:pPr>
            <a:r>
              <a:rPr lang="en-US" sz="3200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Approach</a:t>
            </a:r>
            <a:endParaRPr lang="en-US" sz="3200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Google Shape;162;p29">
            <a:extLst>
              <a:ext uri="{FF2B5EF4-FFF2-40B4-BE49-F238E27FC236}">
                <a16:creationId xmlns:a16="http://schemas.microsoft.com/office/drawing/2014/main" id="{A993762A-7F88-34F6-105D-24FE4FE7C68B}"/>
              </a:ext>
            </a:extLst>
          </p:cNvPr>
          <p:cNvSpPr txBox="1">
            <a:spLocks/>
          </p:cNvSpPr>
          <p:nvPr/>
        </p:nvSpPr>
        <p:spPr>
          <a:xfrm>
            <a:off x="163149" y="975834"/>
            <a:ext cx="11545780" cy="4543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189" lvl="1">
              <a:lnSpc>
                <a:spcPct val="90000"/>
              </a:lnSpc>
            </a:pPr>
            <a:endParaRPr lang="en-GB" sz="1867"/>
          </a:p>
        </p:txBody>
      </p:sp>
      <p:sp>
        <p:nvSpPr>
          <p:cNvPr id="6" name="Google Shape;132;p36">
            <a:extLst>
              <a:ext uri="{FF2B5EF4-FFF2-40B4-BE49-F238E27FC236}">
                <a16:creationId xmlns:a16="http://schemas.microsoft.com/office/drawing/2014/main" id="{B2099055-7FD1-F9C0-B7EC-56F84D5DEDD8}"/>
              </a:ext>
            </a:extLst>
          </p:cNvPr>
          <p:cNvSpPr/>
          <p:nvPr/>
        </p:nvSpPr>
        <p:spPr>
          <a:xfrm>
            <a:off x="483073" y="1304683"/>
            <a:ext cx="3260625" cy="539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31147"/>
              </a:lnSpc>
              <a:buClr>
                <a:srgbClr val="532418"/>
              </a:buClr>
              <a:buSzPts val="1900"/>
            </a:pPr>
            <a:endParaRPr sz="25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Google Shape;133;p36">
            <a:extLst>
              <a:ext uri="{FF2B5EF4-FFF2-40B4-BE49-F238E27FC236}">
                <a16:creationId xmlns:a16="http://schemas.microsoft.com/office/drawing/2014/main" id="{1617959C-B6AA-78B3-330B-F5C6A4BDBA0B}"/>
              </a:ext>
            </a:extLst>
          </p:cNvPr>
          <p:cNvSpPr/>
          <p:nvPr/>
        </p:nvSpPr>
        <p:spPr>
          <a:xfrm>
            <a:off x="755263" y="1383705"/>
            <a:ext cx="10578937" cy="4363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0000"/>
              </a:lnSpc>
              <a:buClr>
                <a:srgbClr val="67534F"/>
              </a:buClr>
              <a:buSzPts val="1000"/>
            </a:pPr>
            <a:r>
              <a:rPr lang="en-US" sz="213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213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odel development strategy :</a:t>
            </a:r>
          </a:p>
          <a:p>
            <a:pPr>
              <a:lnSpc>
                <a:spcPct val="150000"/>
              </a:lnSpc>
              <a:buClr>
                <a:srgbClr val="67534F"/>
              </a:buClr>
              <a:buSzPts val="1000"/>
            </a:pPr>
            <a:r>
              <a:rPr lang="en-US" sz="213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     1. Establish baseline with a fully connected network</a:t>
            </a:r>
          </a:p>
          <a:p>
            <a:pPr>
              <a:lnSpc>
                <a:spcPct val="130302"/>
              </a:lnSpc>
              <a:buClr>
                <a:srgbClr val="67534F"/>
              </a:buClr>
              <a:buSzPts val="1000"/>
            </a:pPr>
            <a:r>
              <a:rPr lang="en-US" sz="213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     2. Implement a basic convolutional architecture</a:t>
            </a:r>
          </a:p>
          <a:p>
            <a:pPr>
              <a:lnSpc>
                <a:spcPct val="130302"/>
              </a:lnSpc>
              <a:buClr>
                <a:srgbClr val="67534F"/>
              </a:buClr>
              <a:buSzPts val="1000"/>
            </a:pPr>
            <a:r>
              <a:rPr lang="en-US" sz="213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     3. Add pooling layers to the CNN for efficiency</a:t>
            </a:r>
          </a:p>
          <a:p>
            <a:pPr>
              <a:lnSpc>
                <a:spcPct val="130302"/>
              </a:lnSpc>
              <a:buClr>
                <a:srgbClr val="67534F"/>
              </a:buClr>
              <a:buSzPts val="1000"/>
            </a:pPr>
            <a:r>
              <a:rPr lang="en-US" sz="213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     4. Incorporate data augmentation</a:t>
            </a:r>
          </a:p>
          <a:p>
            <a:pPr>
              <a:lnSpc>
                <a:spcPct val="150000"/>
              </a:lnSpc>
              <a:buClr>
                <a:srgbClr val="67534F"/>
              </a:buClr>
              <a:buSzPts val="1000"/>
            </a:pPr>
            <a:r>
              <a:rPr lang="en-US" sz="213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     5. Apply advanced optimization techniques</a:t>
            </a:r>
          </a:p>
          <a:p>
            <a:pPr>
              <a:lnSpc>
                <a:spcPct val="150000"/>
              </a:lnSpc>
              <a:buClr>
                <a:srgbClr val="67534F"/>
              </a:buClr>
              <a:buSzPts val="1000"/>
            </a:pPr>
            <a:endParaRPr lang="en-US" sz="21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>
              <a:lnSpc>
                <a:spcPct val="150000"/>
              </a:lnSpc>
              <a:buClr>
                <a:srgbClr val="67534F"/>
              </a:buClr>
              <a:buSzPts val="1000"/>
            </a:pPr>
            <a:r>
              <a:rPr lang="en-US" sz="213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Python Library</a:t>
            </a:r>
            <a:r>
              <a:rPr lang="en-US" sz="213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: PyTorch</a:t>
            </a:r>
          </a:p>
          <a:p>
            <a:pPr>
              <a:lnSpc>
                <a:spcPct val="150000"/>
              </a:lnSpc>
              <a:buClr>
                <a:srgbClr val="67534F"/>
              </a:buClr>
              <a:buSzPts val="1000"/>
            </a:pPr>
            <a:endParaRPr lang="en-US" sz="2133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80990" indent="-380990">
              <a:lnSpc>
                <a:spcPct val="130302"/>
              </a:lnSpc>
              <a:buClr>
                <a:srgbClr val="67534F"/>
              </a:buClr>
              <a:buSzPts val="1000"/>
              <a:buFont typeface="Arial" panose="020B0604020202020204" pitchFamily="34" charset="0"/>
              <a:buChar char="•"/>
            </a:pPr>
            <a:endParaRPr lang="en-US" sz="21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80990" indent="-380990">
              <a:lnSpc>
                <a:spcPct val="130302"/>
              </a:lnSpc>
              <a:buClr>
                <a:srgbClr val="67534F"/>
              </a:buClr>
              <a:buSzPts val="1000"/>
              <a:buFont typeface="Arial" panose="020B0604020202020204" pitchFamily="34" charset="0"/>
              <a:buChar char="•"/>
            </a:pPr>
            <a:endParaRPr lang="en-US" sz="21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" name="Google Shape;135;p36">
            <a:extLst>
              <a:ext uri="{FF2B5EF4-FFF2-40B4-BE49-F238E27FC236}">
                <a16:creationId xmlns:a16="http://schemas.microsoft.com/office/drawing/2014/main" id="{F7067C74-3B4B-BCA3-131A-9E0F5D2A34CB}"/>
              </a:ext>
            </a:extLst>
          </p:cNvPr>
          <p:cNvSpPr/>
          <p:nvPr/>
        </p:nvSpPr>
        <p:spPr>
          <a:xfrm>
            <a:off x="483072" y="3945023"/>
            <a:ext cx="10747445" cy="20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30302"/>
              </a:lnSpc>
              <a:buClr>
                <a:srgbClr val="67534F"/>
              </a:buClr>
              <a:buSzPts val="1000"/>
            </a:pPr>
            <a:endParaRPr lang="en-US" sz="1867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>
              <a:lnSpc>
                <a:spcPct val="130302"/>
              </a:lnSpc>
              <a:buClr>
                <a:srgbClr val="67534F"/>
              </a:buClr>
              <a:buSzPts val="1000"/>
            </a:pPr>
            <a:endParaRPr lang="en-US" sz="1867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88971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670"/>
    </mc:Choice>
    <mc:Fallback xmlns="">
      <p:transition spd="slow" advTm="5267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50;p28">
            <a:extLst>
              <a:ext uri="{FF2B5EF4-FFF2-40B4-BE49-F238E27FC236}">
                <a16:creationId xmlns:a16="http://schemas.microsoft.com/office/drawing/2014/main" id="{54DDB92B-0055-DEAE-7348-EF4F0247FAC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467" y="60768"/>
            <a:ext cx="842741" cy="102771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62;p29">
            <a:extLst>
              <a:ext uri="{FF2B5EF4-FFF2-40B4-BE49-F238E27FC236}">
                <a16:creationId xmlns:a16="http://schemas.microsoft.com/office/drawing/2014/main" id="{805891BA-71D4-C7D8-428D-E3FE4DA08900}"/>
              </a:ext>
            </a:extLst>
          </p:cNvPr>
          <p:cNvSpPr txBox="1">
            <a:spLocks/>
          </p:cNvSpPr>
          <p:nvPr/>
        </p:nvSpPr>
        <p:spPr>
          <a:xfrm>
            <a:off x="1331551" y="276076"/>
            <a:ext cx="8094947" cy="699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129347"/>
              </a:lnSpc>
              <a:buClr>
                <a:srgbClr val="532418"/>
              </a:buClr>
              <a:buSzPts val="2900"/>
            </a:pPr>
            <a:r>
              <a:rPr lang="en-US" sz="3200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Model Development Progression</a:t>
            </a:r>
            <a:endParaRPr lang="en-US" sz="3200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Google Shape;133;p36">
            <a:extLst>
              <a:ext uri="{FF2B5EF4-FFF2-40B4-BE49-F238E27FC236}">
                <a16:creationId xmlns:a16="http://schemas.microsoft.com/office/drawing/2014/main" id="{8620D6B8-118F-44A3-71B9-174F3B33A69A}"/>
              </a:ext>
            </a:extLst>
          </p:cNvPr>
          <p:cNvSpPr/>
          <p:nvPr/>
        </p:nvSpPr>
        <p:spPr>
          <a:xfrm>
            <a:off x="806531" y="1247044"/>
            <a:ext cx="11098015" cy="5473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r>
              <a:rPr lang="en-US" sz="2133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Fully Connected Network (FCN)</a:t>
            </a:r>
          </a:p>
          <a:p>
            <a:pPr marL="380990" indent="-380990">
              <a:lnSpc>
                <a:spcPct val="128259"/>
              </a:lnSpc>
              <a:buClr>
                <a:srgbClr val="67534F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213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Three hidden layers of 512 units each</a:t>
            </a:r>
          </a:p>
          <a:p>
            <a:pPr marL="380990" indent="-380990">
              <a:lnSpc>
                <a:spcPct val="128259"/>
              </a:lnSpc>
              <a:buClr>
                <a:srgbClr val="67534F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213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ReLU activation</a:t>
            </a:r>
          </a:p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endParaRPr lang="en-US" sz="21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r>
              <a:rPr lang="en-US" sz="2133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Vanilla CNN</a:t>
            </a:r>
            <a:endParaRPr lang="en-US" sz="2133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80990" indent="-380990">
              <a:lnSpc>
                <a:spcPct val="128259"/>
              </a:lnSpc>
              <a:buClr>
                <a:srgbClr val="67534F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213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Three convolutional layers </a:t>
            </a:r>
          </a:p>
          <a:p>
            <a:pPr marL="380990" indent="-380990">
              <a:lnSpc>
                <a:spcPct val="128259"/>
              </a:lnSpc>
              <a:buClr>
                <a:srgbClr val="67534F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213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ReLU activation</a:t>
            </a:r>
            <a:endParaRPr lang="en" sz="21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L="380990" indent="-380990">
              <a:lnSpc>
                <a:spcPct val="128259"/>
              </a:lnSpc>
              <a:buClr>
                <a:srgbClr val="67534F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213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16 filters  &amp; </a:t>
            </a:r>
            <a:r>
              <a:rPr lang="en-US" sz="213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kernel size 3</a:t>
            </a:r>
          </a:p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endParaRPr lang="en-US" sz="21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r>
              <a:rPr lang="en-US" sz="213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Loss function: </a:t>
            </a:r>
            <a:r>
              <a:rPr lang="en-US" sz="213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CrossEntropyLoss </a:t>
            </a:r>
          </a:p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r>
              <a:rPr lang="en-US" sz="213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Optimizer: </a:t>
            </a:r>
            <a:r>
              <a:rPr lang="en-US" sz="213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Stochastic gradient descent (SGD)</a:t>
            </a:r>
          </a:p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r>
              <a:rPr lang="en-US" sz="213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Epochs: </a:t>
            </a:r>
            <a:r>
              <a:rPr lang="en-US" sz="213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50</a:t>
            </a:r>
            <a:endParaRPr lang="en-US" sz="21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C3F2352-2446-A487-26D6-19AF6E9E7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538" y="1439962"/>
            <a:ext cx="5809844" cy="397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645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518"/>
    </mc:Choice>
    <mc:Fallback xmlns="">
      <p:transition spd="slow" advTm="3651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50;p28">
            <a:extLst>
              <a:ext uri="{FF2B5EF4-FFF2-40B4-BE49-F238E27FC236}">
                <a16:creationId xmlns:a16="http://schemas.microsoft.com/office/drawing/2014/main" id="{54DDB92B-0055-DEAE-7348-EF4F0247FAC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467" y="60768"/>
            <a:ext cx="842741" cy="102771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62;p29">
            <a:extLst>
              <a:ext uri="{FF2B5EF4-FFF2-40B4-BE49-F238E27FC236}">
                <a16:creationId xmlns:a16="http://schemas.microsoft.com/office/drawing/2014/main" id="{805891BA-71D4-C7D8-428D-E3FE4DA08900}"/>
              </a:ext>
            </a:extLst>
          </p:cNvPr>
          <p:cNvSpPr txBox="1">
            <a:spLocks/>
          </p:cNvSpPr>
          <p:nvPr/>
        </p:nvSpPr>
        <p:spPr>
          <a:xfrm>
            <a:off x="1042302" y="276075"/>
            <a:ext cx="8094947" cy="699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129347"/>
              </a:lnSpc>
              <a:buClr>
                <a:srgbClr val="532418"/>
              </a:buClr>
              <a:buSzPts val="2900"/>
            </a:pPr>
            <a:r>
              <a:rPr lang="en-US" sz="2800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Model Development Progression(contd.)</a:t>
            </a:r>
            <a:endParaRPr lang="en-US" sz="2800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Google Shape;133;p36">
            <a:extLst>
              <a:ext uri="{FF2B5EF4-FFF2-40B4-BE49-F238E27FC236}">
                <a16:creationId xmlns:a16="http://schemas.microsoft.com/office/drawing/2014/main" id="{8620D6B8-118F-44A3-71B9-174F3B33A69A}"/>
              </a:ext>
            </a:extLst>
          </p:cNvPr>
          <p:cNvSpPr/>
          <p:nvPr/>
        </p:nvSpPr>
        <p:spPr>
          <a:xfrm>
            <a:off x="806531" y="1247044"/>
            <a:ext cx="11098015" cy="5334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endParaRPr lang="en-US" sz="20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arcellus"/>
            </a:endParaRPr>
          </a:p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r>
              <a:rPr lang="en-US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CNN with </a:t>
            </a:r>
            <a:r>
              <a:rPr lang="en-US" sz="2000" b="1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MaxPooling</a:t>
            </a:r>
            <a:endParaRPr lang="en-US" sz="20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arcellus"/>
            </a:endParaRPr>
          </a:p>
          <a:p>
            <a:pPr marL="380990" indent="-380990">
              <a:lnSpc>
                <a:spcPct val="128259"/>
              </a:lnSpc>
              <a:buClr>
                <a:srgbClr val="67534F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Added dimensionality reduction through </a:t>
            </a:r>
          </a:p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r>
              <a:rPr lang="e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max pooling</a:t>
            </a:r>
          </a:p>
          <a:p>
            <a:pPr marL="380990" indent="-380990">
              <a:lnSpc>
                <a:spcPct val="128259"/>
              </a:lnSpc>
              <a:buClr>
                <a:srgbClr val="67534F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Reduces width and height by a factor of 2</a:t>
            </a:r>
          </a:p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endParaRPr lang="en-US" sz="20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arcellus"/>
            </a:endParaRPr>
          </a:p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r>
              <a:rPr lang="en-US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CNN with Data Augmentation</a:t>
            </a:r>
            <a:endParaRPr lang="en-US" sz="20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Transformed train data: </a:t>
            </a:r>
          </a:p>
          <a:p>
            <a:pPr lvl="2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	- RandomHorizontalFlip</a:t>
            </a:r>
          </a:p>
          <a:p>
            <a:pPr lvl="2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	- RandomCrop</a:t>
            </a:r>
          </a:p>
          <a:p>
            <a:pPr lvl="2"/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0990" lvl="2" indent="-38099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Three convolution blocks</a:t>
            </a:r>
          </a:p>
          <a:p>
            <a:pPr lvl="2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       - Filters → BatchNorm → ReLU → Filters → BatchNorm → ReLU → MaxPool → Dropout(0.25)</a:t>
            </a:r>
          </a:p>
          <a:p>
            <a:pPr lvl="2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       - Doubled the filters in each block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807493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283"/>
    </mc:Choice>
    <mc:Fallback xmlns="">
      <p:transition spd="slow" advTm="4928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50;p28">
            <a:extLst>
              <a:ext uri="{FF2B5EF4-FFF2-40B4-BE49-F238E27FC236}">
                <a16:creationId xmlns:a16="http://schemas.microsoft.com/office/drawing/2014/main" id="{54DDB92B-0055-DEAE-7348-EF4F0247FAC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467" y="60768"/>
            <a:ext cx="842741" cy="102771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62;p29">
            <a:extLst>
              <a:ext uri="{FF2B5EF4-FFF2-40B4-BE49-F238E27FC236}">
                <a16:creationId xmlns:a16="http://schemas.microsoft.com/office/drawing/2014/main" id="{805891BA-71D4-C7D8-428D-E3FE4DA08900}"/>
              </a:ext>
            </a:extLst>
          </p:cNvPr>
          <p:cNvSpPr txBox="1">
            <a:spLocks/>
          </p:cNvSpPr>
          <p:nvPr/>
        </p:nvSpPr>
        <p:spPr>
          <a:xfrm>
            <a:off x="1191592" y="328215"/>
            <a:ext cx="8094947" cy="699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129347"/>
              </a:lnSpc>
              <a:buClr>
                <a:srgbClr val="532418"/>
              </a:buClr>
              <a:buSzPts val="2900"/>
            </a:pPr>
            <a:r>
              <a:rPr lang="en-US" sz="2800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Model Performance</a:t>
            </a:r>
            <a:endParaRPr lang="en-US" sz="2800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Google Shape;133;p36">
            <a:extLst>
              <a:ext uri="{FF2B5EF4-FFF2-40B4-BE49-F238E27FC236}">
                <a16:creationId xmlns:a16="http://schemas.microsoft.com/office/drawing/2014/main" id="{8620D6B8-118F-44A3-71B9-174F3B33A69A}"/>
              </a:ext>
            </a:extLst>
          </p:cNvPr>
          <p:cNvSpPr/>
          <p:nvPr/>
        </p:nvSpPr>
        <p:spPr>
          <a:xfrm>
            <a:off x="806531" y="1247044"/>
            <a:ext cx="11098015" cy="5334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L="380990" indent="-380990">
              <a:lnSpc>
                <a:spcPct val="128259"/>
              </a:lnSpc>
              <a:buClr>
                <a:srgbClr val="67534F"/>
              </a:buClr>
              <a:buSzPts val="1400"/>
              <a:buFont typeface="Arial" panose="020B0604020202020204" pitchFamily="34" charset="0"/>
              <a:buChar char="•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4BBEF3-9B09-EBB1-8599-4EC7CE088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575" y="1603882"/>
            <a:ext cx="7275191" cy="414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805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485"/>
    </mc:Choice>
    <mc:Fallback xmlns="">
      <p:transition spd="slow" advTm="3648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50;p28">
            <a:extLst>
              <a:ext uri="{FF2B5EF4-FFF2-40B4-BE49-F238E27FC236}">
                <a16:creationId xmlns:a16="http://schemas.microsoft.com/office/drawing/2014/main" id="{54DDB92B-0055-DEAE-7348-EF4F0247FAC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467" y="60768"/>
            <a:ext cx="842741" cy="102771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62;p29">
            <a:extLst>
              <a:ext uri="{FF2B5EF4-FFF2-40B4-BE49-F238E27FC236}">
                <a16:creationId xmlns:a16="http://schemas.microsoft.com/office/drawing/2014/main" id="{805891BA-71D4-C7D8-428D-E3FE4DA08900}"/>
              </a:ext>
            </a:extLst>
          </p:cNvPr>
          <p:cNvSpPr txBox="1">
            <a:spLocks/>
          </p:cNvSpPr>
          <p:nvPr/>
        </p:nvSpPr>
        <p:spPr>
          <a:xfrm>
            <a:off x="1331551" y="276076"/>
            <a:ext cx="8094947" cy="699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130769"/>
              </a:lnSpc>
              <a:buClr>
                <a:srgbClr val="532418"/>
              </a:buClr>
              <a:buSzPts val="2800"/>
            </a:pPr>
            <a:r>
              <a:rPr lang="en-US" sz="2800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Advanced Training Techniques</a:t>
            </a:r>
            <a:endParaRPr lang="en-US" sz="2800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Google Shape;133;p36">
            <a:extLst>
              <a:ext uri="{FF2B5EF4-FFF2-40B4-BE49-F238E27FC236}">
                <a16:creationId xmlns:a16="http://schemas.microsoft.com/office/drawing/2014/main" id="{8620D6B8-118F-44A3-71B9-174F3B33A69A}"/>
              </a:ext>
            </a:extLst>
          </p:cNvPr>
          <p:cNvSpPr/>
          <p:nvPr/>
        </p:nvSpPr>
        <p:spPr>
          <a:xfrm>
            <a:off x="806531" y="1247044"/>
            <a:ext cx="11098015" cy="5334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L="380990" indent="-380990">
              <a:lnSpc>
                <a:spcPct val="128259"/>
              </a:lnSpc>
              <a:buClr>
                <a:srgbClr val="67534F"/>
              </a:buClr>
              <a:buSzPts val="1400"/>
              <a:buFont typeface="Arial" panose="020B0604020202020204" pitchFamily="34" charset="0"/>
              <a:buChar char="•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E953E1-B68B-90A2-BD17-996F35C6D319}"/>
              </a:ext>
            </a:extLst>
          </p:cNvPr>
          <p:cNvSpPr txBox="1"/>
          <p:nvPr/>
        </p:nvSpPr>
        <p:spPr>
          <a:xfrm>
            <a:off x="1134946" y="1572780"/>
            <a:ext cx="7150637" cy="3020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>
              <a:lnSpc>
                <a:spcPct val="131111"/>
              </a:lnSpc>
              <a:buClr>
                <a:srgbClr val="67534F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StepLR Scheduler</a:t>
            </a:r>
          </a:p>
          <a:p>
            <a:pPr>
              <a:lnSpc>
                <a:spcPct val="131111"/>
              </a:lnSpc>
              <a:buClr>
                <a:srgbClr val="67534F"/>
              </a:buClr>
              <a:buSzPts val="1400"/>
            </a:pP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		</a:t>
            </a:r>
          </a:p>
          <a:p>
            <a:pPr marL="380990" indent="-380990">
              <a:lnSpc>
                <a:spcPct val="131111"/>
              </a:lnSpc>
              <a:buClr>
                <a:srgbClr val="67534F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Cosine Annealing</a:t>
            </a:r>
          </a:p>
          <a:p>
            <a:pPr marL="380990" indent="-380990">
              <a:lnSpc>
                <a:spcPct val="131111"/>
              </a:lnSpc>
              <a:buClr>
                <a:srgbClr val="67534F"/>
              </a:buClr>
              <a:buSzPts val="1400"/>
              <a:buFont typeface="Arial" panose="020B0604020202020204" pitchFamily="34" charset="0"/>
              <a:buChar char="•"/>
            </a:pPr>
            <a:endParaRPr lang="en-US" sz="21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arcellus"/>
            </a:endParaRPr>
          </a:p>
          <a:p>
            <a:pPr marL="380990" indent="-380990">
              <a:lnSpc>
                <a:spcPct val="131111"/>
              </a:lnSpc>
              <a:buClr>
                <a:srgbClr val="67534F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AdamW + Cosine</a:t>
            </a:r>
          </a:p>
          <a:p>
            <a:pPr>
              <a:lnSpc>
                <a:spcPct val="131111"/>
              </a:lnSpc>
              <a:buClr>
                <a:srgbClr val="67534F"/>
              </a:buClr>
              <a:buSzPts val="1400"/>
            </a:pP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	</a:t>
            </a:r>
            <a:endParaRPr lang="en-US" sz="2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80990" indent="-380990">
              <a:lnSpc>
                <a:spcPct val="131111"/>
              </a:lnSpc>
              <a:buClr>
                <a:srgbClr val="67534F"/>
              </a:buClr>
              <a:buSzPts val="1400"/>
              <a:buFont typeface="Arial" panose="020B0604020202020204" pitchFamily="34" charset="0"/>
              <a:buChar char="•"/>
            </a:pPr>
            <a:endParaRPr lang="en-US" sz="2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75948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50;p28">
            <a:extLst>
              <a:ext uri="{FF2B5EF4-FFF2-40B4-BE49-F238E27FC236}">
                <a16:creationId xmlns:a16="http://schemas.microsoft.com/office/drawing/2014/main" id="{54DDB92B-0055-DEAE-7348-EF4F0247FAC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467" y="60768"/>
            <a:ext cx="842741" cy="102771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62;p29">
            <a:extLst>
              <a:ext uri="{FF2B5EF4-FFF2-40B4-BE49-F238E27FC236}">
                <a16:creationId xmlns:a16="http://schemas.microsoft.com/office/drawing/2014/main" id="{805891BA-71D4-C7D8-428D-E3FE4DA08900}"/>
              </a:ext>
            </a:extLst>
          </p:cNvPr>
          <p:cNvSpPr txBox="1">
            <a:spLocks/>
          </p:cNvSpPr>
          <p:nvPr/>
        </p:nvSpPr>
        <p:spPr>
          <a:xfrm>
            <a:off x="1331551" y="276076"/>
            <a:ext cx="8094947" cy="699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130769"/>
              </a:lnSpc>
              <a:buClr>
                <a:srgbClr val="532418"/>
              </a:buClr>
              <a:buSzPts val="2800"/>
            </a:pPr>
            <a:r>
              <a:rPr lang="en-US" sz="2800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Model Accuracy over epochs and total time</a:t>
            </a:r>
            <a:endParaRPr lang="en-US" sz="2800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Google Shape;133;p36">
            <a:extLst>
              <a:ext uri="{FF2B5EF4-FFF2-40B4-BE49-F238E27FC236}">
                <a16:creationId xmlns:a16="http://schemas.microsoft.com/office/drawing/2014/main" id="{8620D6B8-118F-44A3-71B9-174F3B33A69A}"/>
              </a:ext>
            </a:extLst>
          </p:cNvPr>
          <p:cNvSpPr/>
          <p:nvPr/>
        </p:nvSpPr>
        <p:spPr>
          <a:xfrm>
            <a:off x="806531" y="1247044"/>
            <a:ext cx="11098015" cy="5334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L="380990" indent="-380990">
              <a:lnSpc>
                <a:spcPct val="128259"/>
              </a:lnSpc>
              <a:buClr>
                <a:srgbClr val="67534F"/>
              </a:buClr>
              <a:buSzPts val="1400"/>
              <a:buFont typeface="Arial" panose="020B0604020202020204" pitchFamily="34" charset="0"/>
              <a:buChar char="•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E953E1-B68B-90A2-BD17-996F35C6D319}"/>
              </a:ext>
            </a:extLst>
          </p:cNvPr>
          <p:cNvSpPr txBox="1"/>
          <p:nvPr/>
        </p:nvSpPr>
        <p:spPr>
          <a:xfrm>
            <a:off x="1134947" y="1572781"/>
            <a:ext cx="6096000" cy="921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1111"/>
              </a:lnSpc>
              <a:buClr>
                <a:srgbClr val="67534F"/>
              </a:buClr>
              <a:buSzPts val="1400"/>
            </a:pPr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	</a:t>
            </a:r>
            <a:endParaRPr lang="en-US" sz="1867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80990" indent="-380990">
              <a:lnSpc>
                <a:spcPct val="131111"/>
              </a:lnSpc>
              <a:buClr>
                <a:srgbClr val="67534F"/>
              </a:buClr>
              <a:buSzPts val="1400"/>
              <a:buFont typeface="Arial" panose="020B0604020202020204" pitchFamily="34" charset="0"/>
              <a:buChar char="•"/>
            </a:pPr>
            <a:endParaRPr lang="en-US" sz="1867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56FE6B-6DB4-8BA7-C9A6-65EED099D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1502228"/>
            <a:ext cx="5619339" cy="50796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A9CC88-ED1D-1126-B43A-F89FD8A78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6423" y="1427584"/>
            <a:ext cx="5651132" cy="515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583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33;p36">
            <a:extLst>
              <a:ext uri="{FF2B5EF4-FFF2-40B4-BE49-F238E27FC236}">
                <a16:creationId xmlns:a16="http://schemas.microsoft.com/office/drawing/2014/main" id="{8620D6B8-118F-44A3-71B9-174F3B33A69A}"/>
              </a:ext>
            </a:extLst>
          </p:cNvPr>
          <p:cNvSpPr/>
          <p:nvPr/>
        </p:nvSpPr>
        <p:spPr>
          <a:xfrm>
            <a:off x="806531" y="1247044"/>
            <a:ext cx="11098015" cy="5334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L="380990" indent="-380990">
              <a:lnSpc>
                <a:spcPct val="128259"/>
              </a:lnSpc>
              <a:buClr>
                <a:srgbClr val="67534F"/>
              </a:buClr>
              <a:buSzPts val="1400"/>
              <a:buFont typeface="Arial" panose="020B0604020202020204" pitchFamily="34" charset="0"/>
              <a:buChar char="•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E953E1-B68B-90A2-BD17-996F35C6D319}"/>
              </a:ext>
            </a:extLst>
          </p:cNvPr>
          <p:cNvSpPr txBox="1"/>
          <p:nvPr/>
        </p:nvSpPr>
        <p:spPr>
          <a:xfrm>
            <a:off x="1134947" y="1572781"/>
            <a:ext cx="6096000" cy="921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1111"/>
              </a:lnSpc>
              <a:buClr>
                <a:srgbClr val="67534F"/>
              </a:buClr>
              <a:buSzPts val="1400"/>
            </a:pPr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	</a:t>
            </a:r>
            <a:endParaRPr lang="en-US" sz="1867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80990" indent="-380990">
              <a:lnSpc>
                <a:spcPct val="131111"/>
              </a:lnSpc>
              <a:buClr>
                <a:srgbClr val="67534F"/>
              </a:buClr>
              <a:buSzPts val="1400"/>
              <a:buFont typeface="Arial" panose="020B0604020202020204" pitchFamily="34" charset="0"/>
              <a:buChar char="•"/>
            </a:pPr>
            <a:endParaRPr lang="en-US" sz="1867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BBD21E-B984-F2D7-CCBC-51DD5D2CF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6" y="532073"/>
            <a:ext cx="5806071" cy="30731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B20F66-FE98-5FD5-7E4D-75C0B122A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1" y="477471"/>
            <a:ext cx="5884196" cy="30731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B842ED2-E2B0-EB64-F139-A4E4164A02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67320"/>
            <a:ext cx="5733590" cy="30731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B526873-57D3-94EB-189A-32F5589972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0954" y="3605239"/>
            <a:ext cx="5884197" cy="30798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CCD269-642D-596F-D01A-3AB89123F3AC}"/>
              </a:ext>
            </a:extLst>
          </p:cNvPr>
          <p:cNvSpPr txBox="1"/>
          <p:nvPr/>
        </p:nvSpPr>
        <p:spPr>
          <a:xfrm>
            <a:off x="257984" y="73564"/>
            <a:ext cx="60975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Train and Test loss over epochs</a:t>
            </a:r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3719442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50;p28">
            <a:extLst>
              <a:ext uri="{FF2B5EF4-FFF2-40B4-BE49-F238E27FC236}">
                <a16:creationId xmlns:a16="http://schemas.microsoft.com/office/drawing/2014/main" id="{54DDB92B-0055-DEAE-7348-EF4F0247FAC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467" y="60768"/>
            <a:ext cx="842741" cy="102771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33;p36">
            <a:extLst>
              <a:ext uri="{FF2B5EF4-FFF2-40B4-BE49-F238E27FC236}">
                <a16:creationId xmlns:a16="http://schemas.microsoft.com/office/drawing/2014/main" id="{8620D6B8-118F-44A3-71B9-174F3B33A69A}"/>
              </a:ext>
            </a:extLst>
          </p:cNvPr>
          <p:cNvSpPr/>
          <p:nvPr/>
        </p:nvSpPr>
        <p:spPr>
          <a:xfrm>
            <a:off x="806531" y="1247044"/>
            <a:ext cx="11098015" cy="5334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L="380990" indent="-380990">
              <a:lnSpc>
                <a:spcPct val="128259"/>
              </a:lnSpc>
              <a:buClr>
                <a:srgbClr val="67534F"/>
              </a:buClr>
              <a:buSzPts val="1400"/>
              <a:buFont typeface="Arial" panose="020B0604020202020204" pitchFamily="34" charset="0"/>
              <a:buChar char="•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E953E1-B68B-90A2-BD17-996F35C6D319}"/>
              </a:ext>
            </a:extLst>
          </p:cNvPr>
          <p:cNvSpPr txBox="1"/>
          <p:nvPr/>
        </p:nvSpPr>
        <p:spPr>
          <a:xfrm>
            <a:off x="1134947" y="1572781"/>
            <a:ext cx="6096000" cy="921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1111"/>
              </a:lnSpc>
              <a:buClr>
                <a:srgbClr val="67534F"/>
              </a:buClr>
              <a:buSzPts val="1400"/>
            </a:pPr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	</a:t>
            </a:r>
            <a:endParaRPr lang="en-US" sz="1867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80990" indent="-380990">
              <a:lnSpc>
                <a:spcPct val="131111"/>
              </a:lnSpc>
              <a:buClr>
                <a:srgbClr val="67534F"/>
              </a:buClr>
              <a:buSzPts val="1400"/>
              <a:buFont typeface="Arial" panose="020B0604020202020204" pitchFamily="34" charset="0"/>
              <a:buChar char="•"/>
            </a:pPr>
            <a:endParaRPr lang="en-US" sz="1867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A03080-F726-303E-3471-81A7C4BC0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6873" y="1341120"/>
            <a:ext cx="6513208" cy="54561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09D306-0DB2-1AF3-9D58-EA32CBFDFA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67" y="1341121"/>
            <a:ext cx="5477407" cy="533488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2848BCD-690F-1C8B-5276-6431C2468021}"/>
              </a:ext>
            </a:extLst>
          </p:cNvPr>
          <p:cNvSpPr txBox="1"/>
          <p:nvPr/>
        </p:nvSpPr>
        <p:spPr>
          <a:xfrm>
            <a:off x="1134947" y="417837"/>
            <a:ext cx="8588173" cy="536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30769"/>
              </a:lnSpc>
              <a:buClr>
                <a:srgbClr val="532418"/>
              </a:buClr>
              <a:buSzPts val="2800"/>
            </a:pPr>
            <a:r>
              <a:rPr lang="en-US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Overall Model Accuracy over epochs and total time</a:t>
            </a:r>
            <a:endParaRPr lang="en-US" sz="24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18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50;p28">
            <a:extLst>
              <a:ext uri="{FF2B5EF4-FFF2-40B4-BE49-F238E27FC236}">
                <a16:creationId xmlns:a16="http://schemas.microsoft.com/office/drawing/2014/main" id="{54DDB92B-0055-DEAE-7348-EF4F0247FAC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467" y="60768"/>
            <a:ext cx="842741" cy="102771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33;p36">
            <a:extLst>
              <a:ext uri="{FF2B5EF4-FFF2-40B4-BE49-F238E27FC236}">
                <a16:creationId xmlns:a16="http://schemas.microsoft.com/office/drawing/2014/main" id="{8620D6B8-118F-44A3-71B9-174F3B33A69A}"/>
              </a:ext>
            </a:extLst>
          </p:cNvPr>
          <p:cNvSpPr/>
          <p:nvPr/>
        </p:nvSpPr>
        <p:spPr>
          <a:xfrm>
            <a:off x="806531" y="1247044"/>
            <a:ext cx="11098015" cy="5334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L="380990" indent="-380990">
              <a:lnSpc>
                <a:spcPct val="128259"/>
              </a:lnSpc>
              <a:buClr>
                <a:srgbClr val="67534F"/>
              </a:buClr>
              <a:buSzPts val="1400"/>
              <a:buFont typeface="Arial" panose="020B0604020202020204" pitchFamily="34" charset="0"/>
              <a:buChar char="•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E953E1-B68B-90A2-BD17-996F35C6D319}"/>
              </a:ext>
            </a:extLst>
          </p:cNvPr>
          <p:cNvSpPr txBox="1"/>
          <p:nvPr/>
        </p:nvSpPr>
        <p:spPr>
          <a:xfrm>
            <a:off x="332791" y="1230484"/>
            <a:ext cx="6096000" cy="611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1250"/>
              </a:lnSpc>
              <a:buClr>
                <a:srgbClr val="532418"/>
              </a:buClr>
              <a:buSzPts val="1500"/>
            </a:pPr>
            <a:r>
              <a:rPr lang="en-US" sz="1870" b="1" i="0" u="none" strike="noStrike"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Strong Performance Classes (&gt;90%)</a:t>
            </a:r>
            <a:endParaRPr lang="en-US" sz="1870" b="1" i="0" u="none" strike="noStrike" cap="none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marR="0" lvl="0" indent="-34290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1500"/>
              <a:buFont typeface="Arial" panose="020B0604020202020204" pitchFamily="34" charset="0"/>
              <a:buChar char="•"/>
            </a:pPr>
            <a:r>
              <a:rPr lang="en-US" sz="1870" b="0" i="0" u="none" strike="noStrike"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Car</a:t>
            </a:r>
          </a:p>
          <a:p>
            <a:pPr marL="342900" marR="0" lvl="0" indent="-34290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1500"/>
              <a:buFont typeface="Arial" panose="020B0604020202020204" pitchFamily="34" charset="0"/>
              <a:buChar char="•"/>
            </a:pPr>
            <a:r>
              <a:rPr lang="en-US" sz="187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Ship</a:t>
            </a:r>
          </a:p>
          <a:p>
            <a:pPr marL="342900" marR="0" lvl="0" indent="-34290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1500"/>
              <a:buFont typeface="Arial" panose="020B0604020202020204" pitchFamily="34" charset="0"/>
              <a:buChar char="•"/>
            </a:pPr>
            <a:r>
              <a:rPr lang="en-US" sz="1870" b="0" i="0" u="none" strike="noStrike"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Truck</a:t>
            </a:r>
          </a:p>
          <a:p>
            <a:pPr marL="342900" marR="0" lvl="0" indent="-34290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1500"/>
              <a:buFont typeface="Arial" panose="020B0604020202020204" pitchFamily="34" charset="0"/>
              <a:buChar char="•"/>
            </a:pPr>
            <a:r>
              <a:rPr lang="en-US" sz="187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Frog</a:t>
            </a:r>
          </a:p>
          <a:p>
            <a:pPr marL="342900" marR="0" lvl="0" indent="-34290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1500"/>
              <a:buFont typeface="Arial" panose="020B0604020202020204" pitchFamily="34" charset="0"/>
              <a:buChar char="•"/>
            </a:pPr>
            <a:r>
              <a:rPr lang="en-US" sz="1870" b="0" i="0" u="none" strike="noStrike"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Horse</a:t>
            </a:r>
          </a:p>
          <a:p>
            <a:pPr marL="342900" marR="0" lvl="0" indent="-34290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1500"/>
              <a:buFont typeface="Arial" panose="020B0604020202020204" pitchFamily="34" charset="0"/>
              <a:buChar char="•"/>
            </a:pPr>
            <a:r>
              <a:rPr lang="en-US" sz="187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Deer</a:t>
            </a:r>
          </a:p>
          <a:p>
            <a:pPr marL="342900" marR="0" lvl="0" indent="-34290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1500"/>
              <a:buFont typeface="Arial" panose="020B0604020202020204" pitchFamily="34" charset="0"/>
              <a:buChar char="•"/>
            </a:pPr>
            <a:r>
              <a:rPr lang="en-US" sz="1870" b="0" i="0" u="none" strike="noStrike"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Plane</a:t>
            </a:r>
          </a:p>
          <a:p>
            <a:pPr marR="0" lvl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1500"/>
            </a:pPr>
            <a:endParaRPr lang="en-US" sz="1870" b="0" i="0" u="none" strike="noStrike" cap="none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arcellus"/>
            </a:endParaRPr>
          </a:p>
          <a:p>
            <a:pPr>
              <a:lnSpc>
                <a:spcPct val="131250"/>
              </a:lnSpc>
              <a:buClr>
                <a:srgbClr val="532418"/>
              </a:buClr>
              <a:buSzPts val="1500"/>
            </a:pPr>
            <a:r>
              <a:rPr lang="en-US" sz="2000" b="1" i="0" u="none" strike="noStrike"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Moderate Performance Classes (70-89%)</a:t>
            </a:r>
            <a:endParaRPr lang="en-US" sz="2000" b="1" i="0" u="none" strike="noStrike" cap="none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marR="0" lvl="0" indent="-34290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1500"/>
              <a:buFont typeface="Arial" panose="020B0604020202020204" pitchFamily="34" charset="0"/>
              <a:buChar char="•"/>
            </a:pPr>
            <a:r>
              <a:rPr lang="en-US" sz="187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Dog</a:t>
            </a:r>
          </a:p>
          <a:p>
            <a:pPr marL="342900" marR="0" lvl="0" indent="-34290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1500"/>
              <a:buFont typeface="Arial" panose="020B0604020202020204" pitchFamily="34" charset="0"/>
              <a:buChar char="•"/>
            </a:pPr>
            <a:r>
              <a:rPr lang="en-US" sz="187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Bird</a:t>
            </a:r>
          </a:p>
          <a:p>
            <a:pPr marL="342900" marR="0" lvl="0" indent="-34290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1500"/>
              <a:buFont typeface="Arial" panose="020B0604020202020204" pitchFamily="34" charset="0"/>
              <a:buChar char="•"/>
            </a:pPr>
            <a:r>
              <a:rPr lang="en-US" sz="187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Cat</a:t>
            </a:r>
          </a:p>
          <a:p>
            <a:pPr marL="342900" marR="0" lvl="0" indent="-34290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1500"/>
              <a:buFont typeface="Arial" panose="020B0604020202020204" pitchFamily="34" charset="0"/>
              <a:buChar char="•"/>
            </a:pPr>
            <a:endParaRPr lang="en-US" sz="1870" b="0" i="0" u="none" strike="noStrike" cap="none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arcellus"/>
            </a:endParaRPr>
          </a:p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1500"/>
              <a:buFont typeface="Marcellus"/>
              <a:buNone/>
            </a:pPr>
            <a:endParaRPr lang="en-US" sz="187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arcellus"/>
            </a:endParaRPr>
          </a:p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1500"/>
              <a:buFont typeface="Marcellus"/>
              <a:buNone/>
            </a:pPr>
            <a:endParaRPr lang="en-US" sz="1870" b="0" i="0" u="none" strike="noStrike" cap="none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848BCD-690F-1C8B-5276-6431C2468021}"/>
              </a:ext>
            </a:extLst>
          </p:cNvPr>
          <p:cNvSpPr txBox="1"/>
          <p:nvPr/>
        </p:nvSpPr>
        <p:spPr>
          <a:xfrm>
            <a:off x="1134947" y="417837"/>
            <a:ext cx="8588173" cy="536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30927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3000"/>
              <a:buFont typeface="Marcellus"/>
              <a:buNone/>
            </a:pPr>
            <a:r>
              <a:rPr lang="en-US" sz="2400" b="1" i="0" u="none" strike="noStrike"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Classification Performance by Class</a:t>
            </a:r>
            <a:endParaRPr lang="en-US" sz="2400" b="1" i="0" u="none" strike="noStrike" cap="none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3DD662-6CC4-453E-E733-CACE05EC0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1713" y="1097078"/>
            <a:ext cx="5703741" cy="466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632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158"/>
    </mc:Choice>
    <mc:Fallback xmlns="">
      <p:transition spd="slow" advTm="77158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50;p28">
            <a:extLst>
              <a:ext uri="{FF2B5EF4-FFF2-40B4-BE49-F238E27FC236}">
                <a16:creationId xmlns:a16="http://schemas.microsoft.com/office/drawing/2014/main" id="{54DDB92B-0055-DEAE-7348-EF4F0247FAC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467" y="60768"/>
            <a:ext cx="842741" cy="102771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33;p36">
            <a:extLst>
              <a:ext uri="{FF2B5EF4-FFF2-40B4-BE49-F238E27FC236}">
                <a16:creationId xmlns:a16="http://schemas.microsoft.com/office/drawing/2014/main" id="{8620D6B8-118F-44A3-71B9-174F3B33A69A}"/>
              </a:ext>
            </a:extLst>
          </p:cNvPr>
          <p:cNvSpPr/>
          <p:nvPr/>
        </p:nvSpPr>
        <p:spPr>
          <a:xfrm>
            <a:off x="806531" y="1247044"/>
            <a:ext cx="11098015" cy="5334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L="380990" indent="-380990">
              <a:lnSpc>
                <a:spcPct val="128259"/>
              </a:lnSpc>
              <a:buClr>
                <a:srgbClr val="67534F"/>
              </a:buClr>
              <a:buSzPts val="1400"/>
              <a:buFont typeface="Arial" panose="020B0604020202020204" pitchFamily="34" charset="0"/>
              <a:buChar char="•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E953E1-B68B-90A2-BD17-996F35C6D319}"/>
              </a:ext>
            </a:extLst>
          </p:cNvPr>
          <p:cNvSpPr txBox="1"/>
          <p:nvPr/>
        </p:nvSpPr>
        <p:spPr>
          <a:xfrm>
            <a:off x="287454" y="1134949"/>
            <a:ext cx="6096000" cy="3857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1250"/>
              </a:lnSpc>
              <a:buClr>
                <a:srgbClr val="532418"/>
              </a:buClr>
              <a:buSzPts val="1500"/>
            </a:pPr>
            <a:r>
              <a:rPr lang="en-US" sz="1870" b="1" i="0" u="none" strike="noStrike"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Single Image Prediction</a:t>
            </a:r>
          </a:p>
          <a:p>
            <a:pPr>
              <a:lnSpc>
                <a:spcPct val="131250"/>
              </a:lnSpc>
              <a:buClr>
                <a:srgbClr val="532418"/>
              </a:buClr>
              <a:buSzPts val="1500"/>
            </a:pPr>
            <a:endParaRPr lang="en-US" sz="187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arcellus"/>
            </a:endParaRPr>
          </a:p>
          <a:p>
            <a:pPr>
              <a:lnSpc>
                <a:spcPct val="131250"/>
              </a:lnSpc>
              <a:buClr>
                <a:srgbClr val="532418"/>
              </a:buClr>
              <a:buSzPts val="1500"/>
            </a:pPr>
            <a:endParaRPr lang="en-US" sz="1870" b="1" i="0" u="none" strike="noStrike" cap="none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arcellus"/>
            </a:endParaRPr>
          </a:p>
          <a:p>
            <a:pPr>
              <a:lnSpc>
                <a:spcPct val="131250"/>
              </a:lnSpc>
              <a:buClr>
                <a:srgbClr val="532418"/>
              </a:buClr>
              <a:buSzPts val="1500"/>
            </a:pPr>
            <a:endParaRPr lang="en-US" sz="187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arcellus"/>
            </a:endParaRPr>
          </a:p>
          <a:p>
            <a:pPr>
              <a:lnSpc>
                <a:spcPct val="131250"/>
              </a:lnSpc>
              <a:buClr>
                <a:srgbClr val="532418"/>
              </a:buClr>
              <a:buSzPts val="1500"/>
            </a:pPr>
            <a:endParaRPr lang="en-US" sz="1870" b="1" i="0" u="none" strike="noStrike" cap="none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arcellus"/>
            </a:endParaRPr>
          </a:p>
          <a:p>
            <a:pPr marR="0" lvl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1500"/>
            </a:pPr>
            <a:endParaRPr lang="en-US" sz="1870" b="0" i="0" u="none" strike="noStrike" cap="none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arcellus"/>
            </a:endParaRPr>
          </a:p>
          <a:p>
            <a:pPr>
              <a:lnSpc>
                <a:spcPct val="131250"/>
              </a:lnSpc>
              <a:buClr>
                <a:srgbClr val="532418"/>
              </a:buClr>
              <a:buSzPts val="1500"/>
            </a:pPr>
            <a:r>
              <a:rPr lang="en-US" sz="2000" b="1" i="0" u="none" strike="noStrike"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Image Prediction in a batch</a:t>
            </a:r>
          </a:p>
          <a:p>
            <a:pPr marR="0" lvl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1500"/>
            </a:pPr>
            <a:endParaRPr lang="en-US" sz="1870" b="0" i="0" u="none" strike="noStrike" cap="none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arcellus"/>
            </a:endParaRPr>
          </a:p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1500"/>
              <a:buFont typeface="Marcellus"/>
              <a:buNone/>
            </a:pPr>
            <a:endParaRPr lang="en-US" sz="187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arcellus"/>
            </a:endParaRPr>
          </a:p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1500"/>
              <a:buFont typeface="Marcellus"/>
              <a:buNone/>
            </a:pPr>
            <a:endParaRPr lang="en-US" sz="1870" b="0" i="0" u="none" strike="noStrike" cap="none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848BCD-690F-1C8B-5276-6431C2468021}"/>
              </a:ext>
            </a:extLst>
          </p:cNvPr>
          <p:cNvSpPr txBox="1"/>
          <p:nvPr/>
        </p:nvSpPr>
        <p:spPr>
          <a:xfrm>
            <a:off x="1106955" y="239899"/>
            <a:ext cx="8588173" cy="536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30927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3000"/>
              <a:buFont typeface="Marcellus"/>
              <a:buNone/>
            </a:pPr>
            <a:r>
              <a:rPr lang="en-US" sz="2400" b="1" i="0" u="none" strike="noStrike"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Model Prediction Performance</a:t>
            </a:r>
            <a:endParaRPr lang="en-US" sz="2400" b="1" i="0" u="none" strike="noStrike" cap="none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418042-2A11-5749-DD07-EDDF44A76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1845" y="813029"/>
            <a:ext cx="3867228" cy="16233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D64EB63-941C-EA81-7775-13064DBCA3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5067" y="2505411"/>
            <a:ext cx="8303470" cy="4096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575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895"/>
    </mc:Choice>
    <mc:Fallback xmlns="">
      <p:transition spd="slow" advTm="51895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50;p28">
            <a:extLst>
              <a:ext uri="{FF2B5EF4-FFF2-40B4-BE49-F238E27FC236}">
                <a16:creationId xmlns:a16="http://schemas.microsoft.com/office/drawing/2014/main" id="{54DDB92B-0055-DEAE-7348-EF4F0247FAC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467" y="60768"/>
            <a:ext cx="842741" cy="102771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33;p36">
            <a:extLst>
              <a:ext uri="{FF2B5EF4-FFF2-40B4-BE49-F238E27FC236}">
                <a16:creationId xmlns:a16="http://schemas.microsoft.com/office/drawing/2014/main" id="{8620D6B8-118F-44A3-71B9-174F3B33A69A}"/>
              </a:ext>
            </a:extLst>
          </p:cNvPr>
          <p:cNvSpPr/>
          <p:nvPr/>
        </p:nvSpPr>
        <p:spPr>
          <a:xfrm>
            <a:off x="806531" y="1247044"/>
            <a:ext cx="11098015" cy="5334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L="380990" indent="-380990">
              <a:lnSpc>
                <a:spcPct val="128259"/>
              </a:lnSpc>
              <a:buClr>
                <a:srgbClr val="67534F"/>
              </a:buClr>
              <a:buSzPts val="1400"/>
              <a:buFont typeface="Arial" panose="020B0604020202020204" pitchFamily="34" charset="0"/>
              <a:buChar char="•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E953E1-B68B-90A2-BD17-996F35C6D319}"/>
              </a:ext>
            </a:extLst>
          </p:cNvPr>
          <p:cNvSpPr txBox="1"/>
          <p:nvPr/>
        </p:nvSpPr>
        <p:spPr>
          <a:xfrm>
            <a:off x="897768" y="1532224"/>
            <a:ext cx="7320205" cy="49883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31250"/>
              </a:lnSpc>
              <a:buClr>
                <a:srgbClr val="532418"/>
              </a:buClr>
              <a:buSzPts val="1500"/>
            </a:pPr>
            <a:r>
              <a:rPr lang="en-US" sz="1870" i="0" u="none" strike="noStrike"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Training model </a:t>
            </a:r>
            <a:r>
              <a:rPr lang="en-US" sz="187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by adjusting different </a:t>
            </a:r>
            <a:r>
              <a:rPr lang="en-US" sz="1870" i="0" u="none" strike="noStrike"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parameters </a:t>
            </a:r>
            <a:r>
              <a:rPr lang="en-US" sz="187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d</a:t>
            </a:r>
            <a:r>
              <a:rPr lang="en-US" sz="1870" i="0" u="none" strike="noStrike"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elivered better</a:t>
            </a:r>
          </a:p>
          <a:p>
            <a:pPr>
              <a:lnSpc>
                <a:spcPct val="131250"/>
              </a:lnSpc>
              <a:buClr>
                <a:srgbClr val="532418"/>
              </a:buClr>
              <a:buSzPts val="1500"/>
            </a:pPr>
            <a:r>
              <a:rPr lang="en-US" sz="187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Accuracy.</a:t>
            </a:r>
            <a:endParaRPr lang="en-US" sz="1870" i="0" u="none" strike="noStrike" cap="none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arcellus"/>
            </a:endParaRPr>
          </a:p>
          <a:p>
            <a:pPr marL="342900" indent="-342900">
              <a:lnSpc>
                <a:spcPct val="131250"/>
              </a:lnSpc>
              <a:buClr>
                <a:srgbClr val="532418"/>
              </a:buClr>
              <a:buSzPts val="1500"/>
              <a:buFont typeface="Arial" panose="020B0604020202020204" pitchFamily="34" charset="0"/>
              <a:buChar char="•"/>
            </a:pPr>
            <a:r>
              <a:rPr lang="en-US" sz="1870" i="0" u="none" strike="noStrike"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FC and Vanilla CNN provided lower performance accuracy (&lt;50%).</a:t>
            </a:r>
          </a:p>
          <a:p>
            <a:pPr marL="342900" indent="-342900">
              <a:lnSpc>
                <a:spcPct val="131250"/>
              </a:lnSpc>
              <a:buClr>
                <a:srgbClr val="532418"/>
              </a:buClr>
              <a:buSzPts val="1500"/>
              <a:buFont typeface="Arial" panose="020B0604020202020204" pitchFamily="34" charset="0"/>
              <a:buChar char="•"/>
            </a:pPr>
            <a:r>
              <a:rPr lang="en-US" sz="1870" i="0" u="none" strike="noStrike"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CNN  with </a:t>
            </a:r>
            <a:r>
              <a:rPr lang="en-US" sz="187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Data augmentation techn</a:t>
            </a:r>
            <a:r>
              <a:rPr lang="en-US" sz="187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iques improved model performance to around 70%.</a:t>
            </a:r>
          </a:p>
          <a:p>
            <a:pPr marL="342900" indent="-342900">
              <a:lnSpc>
                <a:spcPct val="131250"/>
              </a:lnSpc>
              <a:buClr>
                <a:srgbClr val="532418"/>
              </a:buClr>
              <a:buSzPts val="1500"/>
              <a:buFont typeface="Arial" panose="020B0604020202020204" pitchFamily="34" charset="0"/>
              <a:buChar char="•"/>
            </a:pPr>
            <a:r>
              <a:rPr lang="en-US" sz="1850" b="0" i="0" u="none" strike="noStrike" cap="none">
                <a:latin typeface="Calibri"/>
                <a:ea typeface="Calibri"/>
                <a:cs typeface="Calibri"/>
                <a:sym typeface="Marcellus"/>
              </a:rPr>
              <a:t>Using modern training techniques helped </a:t>
            </a:r>
            <a:r>
              <a:rPr lang="en-US" sz="1850">
                <a:latin typeface="Calibri"/>
                <a:ea typeface="Calibri"/>
                <a:cs typeface="Calibri"/>
                <a:sym typeface="Marcellus"/>
              </a:rPr>
              <a:t>achieve 90% model accuracy.</a:t>
            </a:r>
            <a:endParaRPr lang="en-US" sz="185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31250"/>
              </a:lnSpc>
              <a:buClr>
                <a:srgbClr val="532418"/>
              </a:buClr>
              <a:buSzPts val="1500"/>
              <a:buFont typeface="Arial" panose="020B0604020202020204" pitchFamily="34" charset="0"/>
              <a:buChar char="•"/>
            </a:pPr>
            <a:r>
              <a:rPr lang="en-US" sz="1900">
                <a:latin typeface="Calibri"/>
                <a:ea typeface="Calibri"/>
                <a:cs typeface="Calibri"/>
              </a:rPr>
              <a:t>Performance Differences by Class: Not all classes experienced the same performance of the model. It was less accurate on harder, more visually equivalent categories, such as Cats, Dogs and Birds, with 70-89% being the range, but was very accurate (&gt;90) on clear and distinct categories such as Cars, Ships and Trucks.</a:t>
            </a:r>
            <a:endParaRPr lang="en-US" sz="18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1500"/>
              <a:buFont typeface="Marcellus"/>
              <a:buNone/>
            </a:pPr>
            <a:endParaRPr lang="en-US" sz="1870" b="0" i="0" u="none" strike="noStrike" cap="none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>
              <a:lnSpc>
                <a:spcPct val="131250"/>
              </a:lnSpc>
              <a:buClr>
                <a:srgbClr val="532418"/>
              </a:buClr>
              <a:buSzPts val="1500"/>
            </a:pPr>
            <a:endParaRPr lang="en-US" sz="187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848BCD-690F-1C8B-5276-6431C2468021}"/>
              </a:ext>
            </a:extLst>
          </p:cNvPr>
          <p:cNvSpPr txBox="1"/>
          <p:nvPr/>
        </p:nvSpPr>
        <p:spPr>
          <a:xfrm>
            <a:off x="897208" y="707430"/>
            <a:ext cx="8588173" cy="7585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rtl="0">
              <a:lnSpc>
                <a:spcPct val="130927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3000"/>
              <a:buFont typeface="Marcellus"/>
              <a:buNone/>
            </a:pPr>
            <a:r>
              <a:rPr lang="en-US" sz="3600" b="1" i="0" u="sng" strike="noStrike" cap="none">
                <a:latin typeface="Calibri"/>
                <a:ea typeface="Calibri"/>
                <a:cs typeface="Calibri"/>
                <a:sym typeface="Marcellus"/>
              </a:rPr>
              <a:t>Key Findings</a:t>
            </a:r>
            <a:endParaRPr lang="en-US" sz="3600" b="1" i="0" u="sng" strike="noStrike" cap="none">
              <a:latin typeface="Calibri"/>
              <a:ea typeface="Calibri"/>
              <a:cs typeface="Calibri"/>
              <a:sym typeface="Arial"/>
            </a:endParaRPr>
          </a:p>
        </p:txBody>
      </p:sp>
      <p:pic>
        <p:nvPicPr>
          <p:cNvPr id="4" name="Picture 3" descr="A person holding a key up a staircase&#10;&#10;AI-generated content may be incorrect.">
            <a:extLst>
              <a:ext uri="{FF2B5EF4-FFF2-40B4-BE49-F238E27FC236}">
                <a16:creationId xmlns:a16="http://schemas.microsoft.com/office/drawing/2014/main" id="{EEFF1E4C-92EB-3A66-64FA-FC349D5AA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2182" y="867679"/>
            <a:ext cx="34113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774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193"/>
    </mc:Choice>
    <mc:Fallback xmlns="">
      <p:transition spd="slow" advTm="65193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holding a pen&#10;&#10;AI-generated content may be incorrect.">
            <a:extLst>
              <a:ext uri="{FF2B5EF4-FFF2-40B4-BE49-F238E27FC236}">
                <a16:creationId xmlns:a16="http://schemas.microsoft.com/office/drawing/2014/main" id="{7F5960B2-CD61-EB33-2654-40F0A803A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40" y="132598"/>
            <a:ext cx="11730352" cy="6303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682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101"/>
    </mc:Choice>
    <mc:Fallback xmlns="">
      <p:transition spd="slow" advTm="9910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8D7B4-113B-CA53-917F-C59C2F47B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50;p28">
            <a:extLst>
              <a:ext uri="{FF2B5EF4-FFF2-40B4-BE49-F238E27FC236}">
                <a16:creationId xmlns:a16="http://schemas.microsoft.com/office/drawing/2014/main" id="{4B78A4CC-B0F5-AE58-5955-43C60620F1E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467" y="60768"/>
            <a:ext cx="842741" cy="102771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33;p36">
            <a:extLst>
              <a:ext uri="{FF2B5EF4-FFF2-40B4-BE49-F238E27FC236}">
                <a16:creationId xmlns:a16="http://schemas.microsoft.com/office/drawing/2014/main" id="{410D5376-723B-49C6-8870-31A48CAB682A}"/>
              </a:ext>
            </a:extLst>
          </p:cNvPr>
          <p:cNvSpPr/>
          <p:nvPr/>
        </p:nvSpPr>
        <p:spPr>
          <a:xfrm>
            <a:off x="806531" y="1247044"/>
            <a:ext cx="11098015" cy="5334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L="380990" indent="-380990">
              <a:lnSpc>
                <a:spcPct val="128259"/>
              </a:lnSpc>
              <a:buClr>
                <a:srgbClr val="67534F"/>
              </a:buClr>
              <a:buSzPts val="1400"/>
              <a:buFont typeface="Arial" panose="020B0604020202020204" pitchFamily="34" charset="0"/>
              <a:buChar char="•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A236C9-0482-3C16-D196-B6D2BF3997B4}"/>
              </a:ext>
            </a:extLst>
          </p:cNvPr>
          <p:cNvSpPr txBox="1"/>
          <p:nvPr/>
        </p:nvSpPr>
        <p:spPr>
          <a:xfrm>
            <a:off x="977645" y="1087009"/>
            <a:ext cx="9893831" cy="54784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lnSpc>
                <a:spcPct val="131250"/>
              </a:lnSpc>
              <a:buClr>
                <a:srgbClr val="532418"/>
              </a:buClr>
              <a:buSzPts val="1500"/>
              <a:buAutoNum type="arabicPeriod"/>
            </a:pPr>
            <a:r>
              <a:rPr lang="en-US" sz="1900">
                <a:latin typeface="Calibri"/>
                <a:ea typeface="Calibri"/>
                <a:cs typeface="Calibri"/>
              </a:rPr>
              <a:t>For Dataset</a:t>
            </a:r>
          </a:p>
          <a:p>
            <a:pPr marL="914400" lvl="1" indent="-457200">
              <a:lnSpc>
                <a:spcPct val="131250"/>
              </a:lnSpc>
              <a:buClr>
                <a:srgbClr val="532418"/>
              </a:buClr>
              <a:buSzPts val="1500"/>
              <a:buFont typeface="Arial"/>
              <a:buChar char="•"/>
            </a:pPr>
            <a:r>
              <a:rPr lang="en-US" sz="1900">
                <a:latin typeface="Calibri"/>
                <a:ea typeface="Calibri"/>
                <a:cs typeface="Calibri"/>
              </a:rPr>
              <a:t>CIFAR-10 Dataset -  </a:t>
            </a:r>
            <a:r>
              <a:rPr lang="en-US" sz="1900">
                <a:latin typeface="Calibri"/>
                <a:ea typeface="Calibri"/>
                <a:cs typeface="Calibri"/>
                <a:hlinkClick r:id="rId3"/>
              </a:rPr>
              <a:t>https://www.cs.toronto.edu/~kriz/cifar.html</a:t>
            </a:r>
            <a:endParaRPr lang="en-US" sz="1900">
              <a:latin typeface="Calibri"/>
              <a:ea typeface="Calibri"/>
              <a:cs typeface="Calibri"/>
            </a:endParaRPr>
          </a:p>
          <a:p>
            <a:pPr marL="457200" indent="-457200">
              <a:lnSpc>
                <a:spcPct val="131250"/>
              </a:lnSpc>
              <a:buClr>
                <a:srgbClr val="532418"/>
              </a:buClr>
              <a:buSzPts val="1500"/>
              <a:buAutoNum type="arabicPeriod"/>
            </a:pPr>
            <a:r>
              <a:rPr lang="en-US" sz="1900">
                <a:latin typeface="Calibri"/>
                <a:ea typeface="Calibri"/>
                <a:cs typeface="Calibri"/>
              </a:rPr>
              <a:t>For External Code Base </a:t>
            </a:r>
            <a:endParaRPr lang="en-US" sz="19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914400" lvl="1" indent="-457200">
              <a:lnSpc>
                <a:spcPct val="131250"/>
              </a:lnSpc>
              <a:buClr>
                <a:srgbClr val="532418"/>
              </a:buClr>
              <a:buSzPts val="1500"/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GitHub code Implementation - </a:t>
            </a:r>
            <a:r>
              <a:rPr lang="en-US" sz="1900">
                <a:solidFill>
                  <a:srgbClr val="000000"/>
                </a:solidFill>
                <a:latin typeface="Calibri"/>
                <a:ea typeface="Calibri"/>
                <a:cs typeface="Calibri"/>
                <a:hlinkClick r:id="rId4"/>
              </a:rPr>
              <a:t>https://raw.githubusercontent.com/EdwardRaff/Inside-Deep-Learning/main/idlmam.py</a:t>
            </a:r>
            <a:endParaRPr lang="en-US" sz="19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lnSpc>
                <a:spcPct val="131250"/>
              </a:lnSpc>
              <a:buClr>
                <a:srgbClr val="532418"/>
              </a:buClr>
              <a:buSzPts val="1500"/>
              <a:buAutoNum type="arabicPeriod"/>
            </a:pPr>
            <a:r>
              <a:rPr lang="en-US" sz="19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For</a:t>
            </a:r>
            <a:r>
              <a:rPr lang="en-US" sz="1900">
                <a:latin typeface="Calibri"/>
                <a:ea typeface="Calibri"/>
                <a:cs typeface="Calibri"/>
              </a:rPr>
              <a:t> Course Materials</a:t>
            </a:r>
          </a:p>
          <a:p>
            <a:pPr marL="914400" lvl="1" indent="-457200">
              <a:lnSpc>
                <a:spcPct val="131250"/>
              </a:lnSpc>
              <a:buClr>
                <a:srgbClr val="532418"/>
              </a:buClr>
              <a:buSzPts val="1500"/>
              <a:buFont typeface="Arial"/>
              <a:buChar char="•"/>
            </a:pPr>
            <a:r>
              <a:rPr lang="en-US" sz="1900">
                <a:latin typeface="Calibri"/>
                <a:ea typeface="Calibri"/>
                <a:cs typeface="Calibri"/>
              </a:rPr>
              <a:t>Use Lecture slides and materials from ADTA 5550 (Deep Learning with Big Data)</a:t>
            </a:r>
          </a:p>
          <a:p>
            <a:pPr marL="457200" indent="-457200">
              <a:lnSpc>
                <a:spcPct val="131250"/>
              </a:lnSpc>
              <a:buClr>
                <a:srgbClr val="532418"/>
              </a:buClr>
              <a:buSzPts val="1500"/>
              <a:buAutoNum type="arabicPeriod"/>
            </a:pPr>
            <a:r>
              <a:rPr lang="en-US" sz="1900">
                <a:latin typeface="Calibri"/>
                <a:ea typeface="Calibri"/>
                <a:cs typeface="Calibri"/>
              </a:rPr>
              <a:t>Other Reference links</a:t>
            </a:r>
          </a:p>
          <a:p>
            <a:pPr marL="914400" lvl="1" indent="-457200">
              <a:lnSpc>
                <a:spcPct val="131250"/>
              </a:lnSpc>
              <a:buClr>
                <a:srgbClr val="532418"/>
              </a:buClr>
              <a:buSzPts val="1500"/>
              <a:buFont typeface="Arial"/>
              <a:buChar char="•"/>
            </a:pPr>
            <a:r>
              <a:rPr lang="en-US" sz="1900">
                <a:latin typeface="Calibri"/>
                <a:ea typeface="Calibri"/>
                <a:cs typeface="Calibri"/>
              </a:rPr>
              <a:t>CNN for Image Classification - </a:t>
            </a:r>
            <a:r>
              <a:rPr lang="en-US" sz="1900">
                <a:latin typeface="Calibri"/>
                <a:ea typeface="Calibri"/>
                <a:cs typeface="Calibri"/>
                <a:hlinkClick r:id="rId5"/>
              </a:rPr>
              <a:t>https://www.analyticsvidhya.com/blog/2020/02/learn-image-classification-cnn-convolutional-neural-networks-3-datasets/</a:t>
            </a:r>
            <a:endParaRPr lang="en-US" sz="1900">
              <a:latin typeface="Calibri"/>
              <a:ea typeface="Calibri"/>
              <a:cs typeface="Calibri"/>
            </a:endParaRPr>
          </a:p>
          <a:p>
            <a:pPr marL="914400" lvl="1" indent="-457200">
              <a:lnSpc>
                <a:spcPct val="131250"/>
              </a:lnSpc>
              <a:buClr>
                <a:srgbClr val="532418"/>
              </a:buClr>
              <a:buSzPts val="1500"/>
              <a:buFont typeface="Arial"/>
              <a:buChar char="•"/>
            </a:pPr>
            <a:r>
              <a:rPr lang="en-US" sz="1900">
                <a:latin typeface="Calibri"/>
                <a:ea typeface="Calibri"/>
                <a:cs typeface="Calibri"/>
              </a:rPr>
              <a:t>PyTorch Documentation - </a:t>
            </a:r>
            <a:r>
              <a:rPr lang="en-US" sz="1900">
                <a:latin typeface="Calibri"/>
                <a:ea typeface="Calibri"/>
                <a:cs typeface="Calibri"/>
                <a:hlinkClick r:id="rId6"/>
              </a:rPr>
              <a:t>https://docs.pytorch.org/docs/stable/</a:t>
            </a:r>
            <a:endParaRPr lang="en-US" sz="1900">
              <a:latin typeface="Calibri"/>
              <a:ea typeface="Calibri"/>
              <a:cs typeface="Calibri"/>
            </a:endParaRPr>
          </a:p>
          <a:p>
            <a:pPr marL="914400" lvl="1" indent="-457200">
              <a:lnSpc>
                <a:spcPct val="131250"/>
              </a:lnSpc>
              <a:buClr>
                <a:srgbClr val="532418"/>
              </a:buClr>
              <a:buSzPts val="1500"/>
              <a:buFont typeface="Arial"/>
              <a:buChar char="•"/>
            </a:pPr>
            <a:r>
              <a:rPr lang="en-US" sz="1900">
                <a:latin typeface="Calibri"/>
                <a:ea typeface="Calibri"/>
                <a:cs typeface="Calibri"/>
              </a:rPr>
              <a:t>Cosine Annealing LR Scheduler - </a:t>
            </a:r>
            <a:r>
              <a:rPr lang="en-US" sz="1900">
                <a:latin typeface="Calibri"/>
                <a:ea typeface="Calibri"/>
                <a:cs typeface="Calibri"/>
                <a:hlinkClick r:id="rId7"/>
              </a:rPr>
              <a:t>https://medium.com/@utkrisht14/cosine-learning-rate-schedulers-in-pytorch-486d8717d541</a:t>
            </a:r>
            <a:endParaRPr lang="en-US" sz="1900">
              <a:latin typeface="Calibri"/>
              <a:ea typeface="Calibri"/>
              <a:cs typeface="Calibri"/>
            </a:endParaRPr>
          </a:p>
          <a:p>
            <a:pPr marR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1500"/>
              <a:buFont typeface="Marcellus"/>
            </a:pPr>
            <a:endParaRPr lang="en-US" sz="1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4337C3-2628-6448-199B-F530D85B395A}"/>
              </a:ext>
            </a:extLst>
          </p:cNvPr>
          <p:cNvSpPr txBox="1"/>
          <p:nvPr/>
        </p:nvSpPr>
        <p:spPr>
          <a:xfrm>
            <a:off x="990253" y="276075"/>
            <a:ext cx="8927457" cy="6104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30927"/>
              </a:lnSpc>
              <a:buClr>
                <a:srgbClr val="532418"/>
              </a:buClr>
              <a:buSzPts val="3000"/>
            </a:pPr>
            <a:r>
              <a:rPr lang="en-US" sz="2800" b="1" i="0" u="none" strike="noStrike" cap="none">
                <a:latin typeface="Calibri"/>
                <a:ea typeface="Calibri"/>
                <a:cs typeface="Calibri"/>
                <a:sym typeface="Marcellus"/>
              </a:rPr>
              <a:t>References</a:t>
            </a:r>
            <a:r>
              <a:rPr lang="en-US" sz="2800" b="1">
                <a:latin typeface="Calibri"/>
                <a:ea typeface="Calibri"/>
                <a:cs typeface="Calibri"/>
                <a:sym typeface="Marcellus"/>
              </a:rPr>
              <a:t> and Links</a:t>
            </a:r>
            <a:endParaRPr lang="en-US" sz="2800" b="1" i="0" u="none" strike="noStrike" cap="none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8102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864"/>
    </mc:Choice>
    <mc:Fallback xmlns="">
      <p:transition spd="slow" advTm="33864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50;p28">
            <a:extLst>
              <a:ext uri="{FF2B5EF4-FFF2-40B4-BE49-F238E27FC236}">
                <a16:creationId xmlns:a16="http://schemas.microsoft.com/office/drawing/2014/main" id="{54DDB92B-0055-DEAE-7348-EF4F0247FAC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467" y="60768"/>
            <a:ext cx="842741" cy="102771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33;p36">
            <a:extLst>
              <a:ext uri="{FF2B5EF4-FFF2-40B4-BE49-F238E27FC236}">
                <a16:creationId xmlns:a16="http://schemas.microsoft.com/office/drawing/2014/main" id="{8620D6B8-118F-44A3-71B9-174F3B33A69A}"/>
              </a:ext>
            </a:extLst>
          </p:cNvPr>
          <p:cNvSpPr/>
          <p:nvPr/>
        </p:nvSpPr>
        <p:spPr>
          <a:xfrm>
            <a:off x="806531" y="1247044"/>
            <a:ext cx="11098015" cy="5334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L="380990" indent="-380990">
              <a:lnSpc>
                <a:spcPct val="128259"/>
              </a:lnSpc>
              <a:buClr>
                <a:srgbClr val="67534F"/>
              </a:buClr>
              <a:buSzPts val="1400"/>
              <a:buFont typeface="Arial" panose="020B0604020202020204" pitchFamily="34" charset="0"/>
              <a:buChar char="•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>
              <a:lnSpc>
                <a:spcPct val="128259"/>
              </a:lnSpc>
              <a:buClr>
                <a:srgbClr val="67534F"/>
              </a:buClr>
              <a:buSzPts val="1400"/>
            </a:pPr>
            <a:endParaRPr lang="en-US" sz="2133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E953E1-B68B-90A2-BD17-996F35C6D319}"/>
              </a:ext>
            </a:extLst>
          </p:cNvPr>
          <p:cNvSpPr txBox="1"/>
          <p:nvPr/>
        </p:nvSpPr>
        <p:spPr>
          <a:xfrm>
            <a:off x="997885" y="937085"/>
            <a:ext cx="7402037" cy="815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1500"/>
              <a:buFont typeface="Marcellus"/>
              <a:buNone/>
            </a:pPr>
            <a:endParaRPr lang="en-US" sz="187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arcellus"/>
            </a:endParaRPr>
          </a:p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1500"/>
              <a:buFont typeface="Marcellus"/>
              <a:buNone/>
            </a:pPr>
            <a:endParaRPr lang="en-US" sz="1870" b="0" i="0" u="none" strike="noStrike" cap="none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848BCD-690F-1C8B-5276-6431C2468021}"/>
              </a:ext>
            </a:extLst>
          </p:cNvPr>
          <p:cNvSpPr txBox="1"/>
          <p:nvPr/>
        </p:nvSpPr>
        <p:spPr>
          <a:xfrm>
            <a:off x="4442098" y="2819643"/>
            <a:ext cx="2971426" cy="758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30927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3000"/>
              <a:buFont typeface="Marcellus"/>
              <a:buNone/>
            </a:pPr>
            <a:r>
              <a:rPr lang="en-US" sz="3600" b="1" i="0" u="none" strike="noStrike"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arcellus"/>
              </a:rPr>
              <a:t>Thank You</a:t>
            </a:r>
            <a:endParaRPr lang="en-US" sz="3600" b="1" i="0" u="none" strike="noStrike" cap="none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1464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898"/>
    </mc:Choice>
    <mc:Fallback xmlns="">
      <p:transition spd="slow" advTm="17898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680</Words>
  <Application>Microsoft Macintosh PowerPoint</Application>
  <PresentationFormat>Widescreen</PresentationFormat>
  <Paragraphs>148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Marcellus</vt:lpstr>
      <vt:lpstr>Montserrat</vt:lpstr>
      <vt:lpstr>Office Theme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Bhattacharjee, Ankur</dc:creator>
  <cp:lastModifiedBy>Dontireddy, Manasa</cp:lastModifiedBy>
  <cp:revision>8</cp:revision>
  <dcterms:created xsi:type="dcterms:W3CDTF">2025-11-21T06:25:01Z</dcterms:created>
  <dcterms:modified xsi:type="dcterms:W3CDTF">2025-11-24T18:10:50Z</dcterms:modified>
</cp:coreProperties>
</file>